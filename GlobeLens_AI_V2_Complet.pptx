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2" d="100"/>
          <a:sy n="102" d="100"/>
        </p:scale>
        <p:origin x="89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332395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0D2241"/>
          </a:solidFill>
          <a:ln w="12700">
            <a:solidFill>
              <a:srgbClr val="0D224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897880" y="0"/>
            <a:ext cx="73152" cy="5143500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2241"/>
          </a:solidFill>
          <a:ln w="12700">
            <a:solidFill>
              <a:srgbClr val="0D224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750308"/>
            <a:ext cx="9144000" cy="36576"/>
          </a:xfrm>
          <a:prstGeom prst="rect">
            <a:avLst/>
          </a:prstGeom>
          <a:solidFill>
            <a:srgbClr val="00E5B0"/>
          </a:solidFill>
          <a:ln w="12700">
            <a:solidFill>
              <a:srgbClr val="00E5B0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457200"/>
            <a:ext cx="2377440" cy="23774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73152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 DE CONCEPTION · PFE 2025/2026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48640" y="105156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GlobeLens AI</a:t>
            </a:r>
            <a:endParaRPr lang="en-US" sz="5400" dirty="0"/>
          </a:p>
        </p:txBody>
      </p:sp>
      <p:sp>
        <p:nvSpPr>
          <p:cNvPr id="9" name="Text 6"/>
          <p:cNvSpPr/>
          <p:nvPr/>
        </p:nvSpPr>
        <p:spPr>
          <a:xfrm>
            <a:off x="548640" y="205740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 Intelligente d'Agrégation,</a:t>
            </a:r>
            <a:endParaRPr lang="en-US" sz="1350" dirty="0"/>
          </a:p>
          <a:p>
            <a:pPr marL="0" indent="0" algn="l">
              <a:buNone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Clustering Sémantique et de</a:t>
            </a:r>
            <a:endParaRPr lang="en-US" sz="1350" dirty="0"/>
          </a:p>
          <a:p>
            <a:pPr marL="0" indent="0" algn="l">
              <a:buNone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Cartographie de l'Actualité Internationale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48640" y="3291840"/>
            <a:ext cx="4389120" cy="292608"/>
          </a:xfrm>
          <a:prstGeom prst="rect">
            <a:avLst/>
          </a:prstGeom>
          <a:solidFill>
            <a:srgbClr val="00C2FF"/>
          </a:solidFill>
          <a:ln w="10160">
            <a:solidFill>
              <a:srgbClr val="00C2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8640" y="329184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 0–4b Validées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48640" y="3675888"/>
            <a:ext cx="4389120" cy="292608"/>
          </a:xfrm>
          <a:prstGeom prst="rect">
            <a:avLst/>
          </a:prstGeom>
          <a:solidFill>
            <a:srgbClr val="00C2FF">
              <a:alpha val="12000"/>
            </a:srgbClr>
          </a:solidFill>
          <a:ln w="10160">
            <a:solidFill>
              <a:srgbClr val="00C2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48640" y="3675888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15 · FastAPI · Grok AI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48640" y="4059936"/>
            <a:ext cx="4389120" cy="292608"/>
          </a:xfrm>
          <a:prstGeom prst="rect">
            <a:avLst/>
          </a:prstGeom>
          <a:solidFill>
            <a:srgbClr val="00C2FF">
              <a:alpha val="12000"/>
            </a:srgbClr>
          </a:solidFill>
          <a:ln w="10160">
            <a:solidFill>
              <a:srgbClr val="00C2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48640" y="4059936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· Redis · Elasticsearch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274320" y="4809744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École Hassania des Travaux Publics  ·  Élève Ingénieur — Science Informatique &amp; Big Data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241"/>
          </a:solidFill>
          <a:ln w="12700">
            <a:solidFill>
              <a:srgbClr val="0D224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la Présentation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6949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SOMMAIRE COMPLET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143000"/>
            <a:ext cx="2651760" cy="1207008"/>
          </a:xfrm>
          <a:prstGeom prst="rect">
            <a:avLst/>
          </a:prstGeom>
          <a:solidFill>
            <a:srgbClr val="132B50"/>
          </a:solidFill>
          <a:ln w="8890">
            <a:solidFill>
              <a:srgbClr val="00C2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143000"/>
            <a:ext cx="475488" cy="1207008"/>
          </a:xfrm>
          <a:prstGeom prst="rect">
            <a:avLst/>
          </a:prstGeom>
          <a:solidFill>
            <a:srgbClr val="00C2FF">
              <a:alpha val="25000"/>
            </a:srgbClr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143000"/>
            <a:ext cx="475488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86968" y="1280160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Problème &amp; Vision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86968" y="1709928"/>
            <a:ext cx="1993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Infobésité, benchmark étendu, positionnement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172968" y="1143000"/>
            <a:ext cx="2651760" cy="1207008"/>
          </a:xfrm>
          <a:prstGeom prst="rect">
            <a:avLst/>
          </a:prstGeom>
          <a:solidFill>
            <a:srgbClr val="132B50"/>
          </a:solidFill>
          <a:ln w="8890">
            <a:solidFill>
              <a:srgbClr val="7B61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72968" y="1143000"/>
            <a:ext cx="475488" cy="1207008"/>
          </a:xfrm>
          <a:prstGeom prst="rect">
            <a:avLst/>
          </a:prstGeom>
          <a:solidFill>
            <a:srgbClr val="7B61FF">
              <a:alpha val="25000"/>
            </a:srgbClr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72968" y="1143000"/>
            <a:ext cx="475488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739896" y="1280160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Solutions Existantes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739896" y="1709928"/>
            <a:ext cx="1993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Comparaison 6 plateformes · 9 critères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025896" y="1143000"/>
            <a:ext cx="2651760" cy="1207008"/>
          </a:xfrm>
          <a:prstGeom prst="rect">
            <a:avLst/>
          </a:prstGeom>
          <a:solidFill>
            <a:srgbClr val="132B50"/>
          </a:solidFill>
          <a:ln w="8890">
            <a:solidFill>
              <a:srgbClr val="00E5B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25896" y="1143000"/>
            <a:ext cx="475488" cy="1207008"/>
          </a:xfrm>
          <a:prstGeom prst="rect">
            <a:avLst/>
          </a:prstGeom>
          <a:solidFill>
            <a:srgbClr val="00E5B0">
              <a:alpha val="25000"/>
            </a:srgbClr>
          </a:solidFill>
          <a:ln w="12700">
            <a:solidFill>
              <a:srgbClr val="00E5B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25896" y="1143000"/>
            <a:ext cx="475488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E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592824" y="1280160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Logicielle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592824" y="1709928"/>
            <a:ext cx="1993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Architecture, micro-services Docker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0040" y="2551176"/>
            <a:ext cx="2651760" cy="1207008"/>
          </a:xfrm>
          <a:prstGeom prst="rect">
            <a:avLst/>
          </a:prstGeom>
          <a:solidFill>
            <a:srgbClr val="132B50"/>
          </a:solidFill>
          <a:ln w="8890">
            <a:solidFill>
              <a:srgbClr val="FF6B35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2551176"/>
            <a:ext cx="475488" cy="1207008"/>
          </a:xfrm>
          <a:prstGeom prst="rect">
            <a:avLst/>
          </a:prstGeom>
          <a:solidFill>
            <a:srgbClr val="FF6B35">
              <a:alpha val="25000"/>
            </a:srgbClr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2551176"/>
            <a:ext cx="475488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86968" y="2688336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d'Utilisation (UML)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86968" y="3118104"/>
            <a:ext cx="1993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Diagramme acteurs · Grand Public · Admin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172968" y="2551176"/>
            <a:ext cx="2651760" cy="1207008"/>
          </a:xfrm>
          <a:prstGeom prst="rect">
            <a:avLst/>
          </a:prstGeom>
          <a:solidFill>
            <a:srgbClr val="132B50"/>
          </a:solidFill>
          <a:ln w="8890">
            <a:solidFill>
              <a:srgbClr val="00C2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172968" y="2551176"/>
            <a:ext cx="475488" cy="1207008"/>
          </a:xfrm>
          <a:prstGeom prst="rect">
            <a:avLst/>
          </a:prstGeom>
          <a:solidFill>
            <a:srgbClr val="00C2FF">
              <a:alpha val="25000"/>
            </a:srgbClr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172968" y="2551176"/>
            <a:ext cx="475488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3739896" y="2688336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de Données (MCD)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739896" y="3118104"/>
            <a:ext cx="1993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Entités · Relations · pgvector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025896" y="2551176"/>
            <a:ext cx="2651760" cy="1207008"/>
          </a:xfrm>
          <a:prstGeom prst="rect">
            <a:avLst/>
          </a:prstGeom>
          <a:solidFill>
            <a:srgbClr val="132B50"/>
          </a:solidFill>
          <a:ln w="8890">
            <a:solidFill>
              <a:srgbClr val="7B61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025896" y="2551176"/>
            <a:ext cx="475488" cy="1207008"/>
          </a:xfrm>
          <a:prstGeom prst="rect">
            <a:avLst/>
          </a:prstGeom>
          <a:solidFill>
            <a:srgbClr val="7B61FF">
              <a:alpha val="25000"/>
            </a:srgbClr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025896" y="2551176"/>
            <a:ext cx="475488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6592824" y="2688336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&amp; Intelligence IA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592824" y="3118104"/>
            <a:ext cx="1993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RSS, Clustering, LLM Grok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20040" y="3959352"/>
            <a:ext cx="2651760" cy="1207008"/>
          </a:xfrm>
          <a:prstGeom prst="rect">
            <a:avLst/>
          </a:prstGeom>
          <a:solidFill>
            <a:srgbClr val="132B50"/>
          </a:solidFill>
          <a:ln w="8890">
            <a:solidFill>
              <a:srgbClr val="00E5B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20040" y="3959352"/>
            <a:ext cx="475488" cy="1207008"/>
          </a:xfrm>
          <a:prstGeom prst="rect">
            <a:avLst/>
          </a:prstGeom>
          <a:solidFill>
            <a:srgbClr val="00E5B0">
              <a:alpha val="25000"/>
            </a:srgbClr>
          </a:solidFill>
          <a:ln w="12700">
            <a:solidFill>
              <a:srgbClr val="00E5B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0040" y="3959352"/>
            <a:ext cx="475488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E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886968" y="4096512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Matrice des Permissions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886968" y="4526280"/>
            <a:ext cx="1993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· 5 rôles · 11 fonctionnalités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172968" y="3959352"/>
            <a:ext cx="2651760" cy="1207008"/>
          </a:xfrm>
          <a:prstGeom prst="rect">
            <a:avLst/>
          </a:prstGeom>
          <a:solidFill>
            <a:srgbClr val="132B50"/>
          </a:solidFill>
          <a:ln w="8890">
            <a:solidFill>
              <a:srgbClr val="FF6B35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3172968" y="3959352"/>
            <a:ext cx="475488" cy="1207008"/>
          </a:xfrm>
          <a:prstGeom prst="rect">
            <a:avLst/>
          </a:prstGeom>
          <a:solidFill>
            <a:srgbClr val="FF6B35">
              <a:alpha val="25000"/>
            </a:srgbClr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172968" y="3959352"/>
            <a:ext cx="475488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3739896" y="4096512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Technologique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3739896" y="4526280"/>
            <a:ext cx="1993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couches · justifications techniques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025896" y="3959352"/>
            <a:ext cx="2651760" cy="1207008"/>
          </a:xfrm>
          <a:prstGeom prst="rect">
            <a:avLst/>
          </a:prstGeom>
          <a:solidFill>
            <a:srgbClr val="132B50"/>
          </a:solidFill>
          <a:ln w="8890">
            <a:solidFill>
              <a:srgbClr val="FF3B6B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025896" y="3959352"/>
            <a:ext cx="475488" cy="1207008"/>
          </a:xfrm>
          <a:prstGeom prst="rect">
            <a:avLst/>
          </a:prstGeom>
          <a:solidFill>
            <a:srgbClr val="FF3B6B">
              <a:alpha val="25000"/>
            </a:srgbClr>
          </a:solidFill>
          <a:ln w="12700">
            <a:solidFill>
              <a:srgbClr val="FF3B6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025896" y="3959352"/>
            <a:ext cx="475488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3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6592824" y="4096512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Risques &amp; Mitigation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6592824" y="4526280"/>
            <a:ext cx="1993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risques classifiés avec stratégies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241"/>
          </a:solidFill>
          <a:ln w="12700">
            <a:solidFill>
              <a:srgbClr val="0D224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Problème &amp; Notre Vision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6949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AXE 1 — CADRAGE DU PROJET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3931920" cy="3840480"/>
          </a:xfrm>
          <a:prstGeom prst="rect">
            <a:avLst/>
          </a:prstGeom>
          <a:solidFill>
            <a:srgbClr val="132B50"/>
          </a:solidFill>
          <a:ln w="8890">
            <a:solidFill>
              <a:srgbClr val="FF6B3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051560"/>
            <a:ext cx="3931920" cy="411480"/>
          </a:xfrm>
          <a:prstGeom prst="rect">
            <a:avLst/>
          </a:prstGeom>
          <a:solidFill>
            <a:srgbClr val="FF6B35">
              <a:alpha val="22000"/>
            </a:srgbClr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515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LE CONSTAT — L'Infobésité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1627632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📰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1627632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Fatigue de la redondance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1929384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80% du contenu répété entre agences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02920" y="2633472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🗺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05840" y="2633472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Effondrement du contexte géo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05840" y="2935224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ancrage visuel sur carte du globe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02920" y="3639312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⚖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05840" y="3639312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Instabilité de la traçabilité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05840" y="3941064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Absence de croisement sémantique automatisé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0" y="1051560"/>
            <a:ext cx="4206240" cy="3840480"/>
          </a:xfrm>
          <a:prstGeom prst="rect">
            <a:avLst/>
          </a:prstGeom>
          <a:solidFill>
            <a:srgbClr val="132B50"/>
          </a:solidFill>
          <a:ln w="8890">
            <a:solidFill>
              <a:srgbClr val="00C2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0" y="1051560"/>
            <a:ext cx="4206240" cy="411480"/>
          </a:xfrm>
          <a:prstGeom prst="rect">
            <a:avLst/>
          </a:prstGeom>
          <a:solidFill>
            <a:srgbClr val="00C2FF">
              <a:alpha val="22000"/>
            </a:srgbClr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09160" y="105156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LA VISION GLOBELENS AI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36592" y="1581912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hub intelligent qui centralise, nettoie, regroupe et cartographie l'actualité mondiale pour une lecture objective et instantanée.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709160" y="2377440"/>
            <a:ext cx="868680" cy="594360"/>
          </a:xfrm>
          <a:prstGeom prst="rect">
            <a:avLst/>
          </a:prstGeom>
          <a:solidFill>
            <a:srgbClr val="00C2FF">
              <a:alpha val="25000"/>
            </a:srgbClr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09160" y="2377440"/>
            <a:ext cx="868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Centraliser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669280" y="2377440"/>
            <a:ext cx="868680" cy="594360"/>
          </a:xfrm>
          <a:prstGeom prst="rect">
            <a:avLst/>
          </a:prstGeom>
          <a:solidFill>
            <a:srgbClr val="7B61FF">
              <a:alpha val="25000"/>
            </a:srgbClr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0" y="2377440"/>
            <a:ext cx="868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Nettoyer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629400" y="2377440"/>
            <a:ext cx="868680" cy="594360"/>
          </a:xfrm>
          <a:prstGeom prst="rect">
            <a:avLst/>
          </a:prstGeom>
          <a:solidFill>
            <a:srgbClr val="00E5B0">
              <a:alpha val="25000"/>
            </a:srgbClr>
          </a:solidFill>
          <a:ln w="12700">
            <a:solidFill>
              <a:srgbClr val="00E5B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29400" y="2377440"/>
            <a:ext cx="868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E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Regrouper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589520" y="2377440"/>
            <a:ext cx="868680" cy="594360"/>
          </a:xfrm>
          <a:prstGeom prst="rect">
            <a:avLst/>
          </a:prstGeom>
          <a:solidFill>
            <a:srgbClr val="FF6B35">
              <a:alpha val="25000"/>
            </a:srgbClr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589520" y="2377440"/>
            <a:ext cx="868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Cartographier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736592" y="315468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100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FONCTIONNEL — Positionnement GlobeLens</a:t>
            </a:r>
            <a:endParaRPr lang="en-US" sz="85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36592" y="3401568"/>
          <a:ext cx="3840480" cy="1417320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4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Fonctionnalité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News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C2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GlobeLens AI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Clustering sémantique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Basique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E5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Avancé Cosinus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Détection biais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Aucune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E5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IA Éthique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Ancrage GPS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Absent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E5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Natif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Synthèse multi-sources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Non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E5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Résumé unifié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241"/>
          </a:solidFill>
          <a:ln w="12700">
            <a:solidFill>
              <a:srgbClr val="0D224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des Solutions Existantes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6949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AXE 2 — ÉTUDE DE L'EXISTANT</a:t>
            </a:r>
            <a:endParaRPr lang="en-US" sz="1100" dirty="0"/>
          </a:p>
        </p:txBody>
      </p:sp>
      <p:graphicFrame>
        <p:nvGraphicFramePr>
          <p:cNvPr id="10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6121001"/>
              </p:ext>
            </p:extLst>
          </p:nvPr>
        </p:nvGraphicFramePr>
        <p:xfrm>
          <a:off x="365760" y="1428750"/>
          <a:ext cx="7680960" cy="22860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2618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Critère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News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AllSides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Ground News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Artifact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Reuters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E5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GlobeLens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61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Agrégation multi-sources</a:t>
                      </a:r>
                      <a:endParaRPr lang="en-US" sz="85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Oui</a:t>
                      </a:r>
                      <a:endParaRPr lang="en-US" sz="9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Partielle</a:t>
                      </a:r>
                      <a:endParaRPr lang="en-US" sz="9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Oui</a:t>
                      </a:r>
                      <a:endParaRPr lang="en-US" sz="9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Oui</a:t>
                      </a:r>
                      <a:endParaRPr lang="en-US" sz="9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</a:t>
                      </a:r>
                      <a:endParaRPr lang="en-US" sz="9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E5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61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Synthèse IA</a:t>
                      </a:r>
                      <a:endParaRPr lang="en-US" sz="85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</a:t>
                      </a:r>
                      <a:endParaRPr lang="en-US" sz="9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</a:t>
                      </a:r>
                      <a:endParaRPr lang="en-US" sz="9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</a:t>
                      </a:r>
                      <a:endParaRPr lang="en-US" sz="9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Résumé</a:t>
                      </a:r>
                      <a:endParaRPr lang="en-US" sz="9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</a:t>
                      </a:r>
                      <a:endParaRPr lang="en-US" sz="9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E5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61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 fiabilité</a:t>
                      </a:r>
                      <a:endParaRPr lang="en-US" sz="85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</a:t>
                      </a:r>
                      <a:endParaRPr lang="en-US" sz="9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Biais seul</a:t>
                      </a:r>
                      <a:endParaRPr lang="en-US" sz="9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Partiel</a:t>
                      </a:r>
                      <a:endParaRPr lang="en-US" sz="9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</a:t>
                      </a:r>
                      <a:endParaRPr lang="en-US" sz="9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</a:t>
                      </a:r>
                      <a:endParaRPr lang="en-US" sz="9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E5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0-5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61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Attribution paragraphe</a:t>
                      </a:r>
                      <a:endParaRPr lang="en-US" sz="85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</a:t>
                      </a:r>
                      <a:endParaRPr lang="en-US" sz="9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</a:t>
                      </a:r>
                      <a:endParaRPr lang="en-US" sz="9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</a:t>
                      </a:r>
                      <a:endParaRPr lang="en-US" sz="9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</a:t>
                      </a:r>
                      <a:endParaRPr lang="en-US" sz="9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</a:t>
                      </a:r>
                      <a:endParaRPr lang="en-US" sz="9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E5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61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Timeline événement</a:t>
                      </a:r>
                      <a:endParaRPr lang="en-US" sz="85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</a:t>
                      </a:r>
                      <a:endParaRPr lang="en-US" sz="9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</a:t>
                      </a:r>
                      <a:endParaRPr lang="en-US" sz="9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</a:t>
                      </a:r>
                      <a:endParaRPr lang="en-US" sz="9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</a:t>
                      </a:r>
                      <a:endParaRPr lang="en-US" sz="9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</a:t>
                      </a:r>
                      <a:endParaRPr lang="en-US" sz="9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E5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261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Vue cartographique</a:t>
                      </a:r>
                      <a:endParaRPr lang="en-US" sz="85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</a:t>
                      </a:r>
                      <a:endParaRPr lang="en-US" sz="9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</a:t>
                      </a:r>
                      <a:endParaRPr lang="en-US" sz="9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</a:t>
                      </a:r>
                      <a:endParaRPr lang="en-US" sz="9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</a:t>
                      </a:r>
                      <a:endParaRPr lang="en-US" sz="9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</a:t>
                      </a:r>
                      <a:endParaRPr lang="en-US" sz="9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E5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261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Fact-checker intégré</a:t>
                      </a:r>
                      <a:endParaRPr lang="en-US" sz="85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</a:t>
                      </a:r>
                      <a:endParaRPr lang="en-US" sz="9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</a:t>
                      </a:r>
                      <a:endParaRPr lang="en-US" sz="9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</a:t>
                      </a:r>
                      <a:endParaRPr lang="en-US" sz="9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</a:t>
                      </a:r>
                      <a:endParaRPr lang="en-US" sz="9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</a:t>
                      </a:r>
                      <a:endParaRPr lang="en-US" sz="9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E5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261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Application mobile</a:t>
                      </a:r>
                      <a:endParaRPr lang="en-US" sz="85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Oui</a:t>
                      </a:r>
                      <a:endParaRPr lang="en-US" sz="9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Oui</a:t>
                      </a:r>
                      <a:endParaRPr lang="en-US" sz="9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Oui</a:t>
                      </a:r>
                      <a:endParaRPr lang="en-US" sz="9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Oui</a:t>
                      </a:r>
                      <a:endParaRPr lang="en-US" sz="9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Oui</a:t>
                      </a:r>
                      <a:endParaRPr lang="en-US" sz="9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E5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261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Gratuit</a:t>
                      </a:r>
                      <a:endParaRPr lang="en-US" sz="85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Oui</a:t>
                      </a:r>
                      <a:endParaRPr lang="en-US" sz="9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Oui</a:t>
                      </a:r>
                      <a:endParaRPr lang="en-US" sz="9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Partiel</a:t>
                      </a:r>
                      <a:endParaRPr lang="en-US" sz="9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Oui</a:t>
                      </a:r>
                      <a:endParaRPr lang="en-US" sz="9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Oui</a:t>
                      </a:r>
                      <a:endParaRPr lang="en-US" sz="9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E5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1" name="Text 5"/>
          <p:cNvSpPr/>
          <p:nvPr/>
        </p:nvSpPr>
        <p:spPr>
          <a:xfrm>
            <a:off x="365760" y="1106424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— Comparaison détaillée multi-critères (9 critères clés)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241"/>
          </a:solidFill>
          <a:ln w="12700">
            <a:solidFill>
              <a:srgbClr val="0D224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Logicielle &amp; Écosystème Conteneurisé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6949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AXE 3 — CONCEPTION SYSTÈME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07899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Architecture — 4 couches indépendantes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426464"/>
            <a:ext cx="3840480" cy="566928"/>
          </a:xfrm>
          <a:prstGeom prst="rect">
            <a:avLst/>
          </a:prstGeom>
          <a:solidFill>
            <a:srgbClr val="FF6B35">
              <a:alpha val="22000"/>
            </a:srgbClr>
          </a:solidFill>
          <a:ln w="15240">
            <a:solidFill>
              <a:srgbClr val="FF6B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447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Exposition (Controllers)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170078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· HTTP Routes · OpenAPI docs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66928" y="2103120"/>
            <a:ext cx="3438144" cy="566928"/>
          </a:xfrm>
          <a:prstGeom prst="rect">
            <a:avLst/>
          </a:prstGeom>
          <a:solidFill>
            <a:srgbClr val="7B61FF">
              <a:alpha val="22000"/>
            </a:srgbClr>
          </a:solidFill>
          <a:ln w="15240">
            <a:solidFill>
              <a:srgbClr val="7B61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4088" y="2121408"/>
            <a:ext cx="3255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Métier (Services)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04088" y="2377440"/>
            <a:ext cx="32552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Scraper · Embedding · Clustering · Auth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68096" y="2779776"/>
            <a:ext cx="3035808" cy="566928"/>
          </a:xfrm>
          <a:prstGeom prst="rect">
            <a:avLst/>
          </a:prstGeom>
          <a:solidFill>
            <a:srgbClr val="00C2FF">
              <a:alpha val="22000"/>
            </a:srgbClr>
          </a:solidFill>
          <a:ln w="15240">
            <a:solidFill>
              <a:srgbClr val="00C2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5256" y="2798064"/>
            <a:ext cx="2852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Données (Repositories)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05256" y="3054096"/>
            <a:ext cx="2852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· SQLAlchemy · Async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969264" y="3456432"/>
            <a:ext cx="2633472" cy="566928"/>
          </a:xfrm>
          <a:prstGeom prst="rect">
            <a:avLst/>
          </a:prstGeom>
          <a:solidFill>
            <a:srgbClr val="00E5B0">
              <a:alpha val="22000"/>
            </a:srgbClr>
          </a:solidFill>
          <a:ln w="15240">
            <a:solidFill>
              <a:srgbClr val="00E5B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06424" y="3474720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E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Domaine (Entities)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106424" y="3730752"/>
            <a:ext cx="2450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· Article · Event · Embedding · Comment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65760" y="41605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Couches étanches — zéro couplage technique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617720" y="107899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Écosystème Docker Compose — 5 micro-services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617720" y="1426464"/>
            <a:ext cx="4160520" cy="548640"/>
          </a:xfrm>
          <a:prstGeom prst="rect">
            <a:avLst/>
          </a:prstGeom>
          <a:solidFill>
            <a:srgbClr val="132B50"/>
          </a:solidFill>
          <a:ln w="6350">
            <a:solidFill>
              <a:srgbClr val="7B61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9160" y="1426464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🧠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212080" y="1463040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212080" y="1700784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· Python 3.12 · Uvicorn (async)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617720" y="2103120"/>
            <a:ext cx="4160520" cy="548640"/>
          </a:xfrm>
          <a:prstGeom prst="rect">
            <a:avLst/>
          </a:prstGeom>
          <a:solidFill>
            <a:srgbClr val="132B50"/>
          </a:solidFill>
          <a:ln w="6350">
            <a:solidFill>
              <a:srgbClr val="00C2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09160" y="21031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🗄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212080" y="2139696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212080" y="237744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16 + pgvector + JSONB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617720" y="2779776"/>
            <a:ext cx="4160520" cy="548640"/>
          </a:xfrm>
          <a:prstGeom prst="rect">
            <a:avLst/>
          </a:prstGeom>
          <a:solidFill>
            <a:srgbClr val="132B50"/>
          </a:solidFill>
          <a:ln w="6350">
            <a:solidFill>
              <a:srgbClr val="FF6B3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09160" y="2779776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⚡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5212080" y="281635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212080" y="3054096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Stack — TTL 5-15 min · hachage MD5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617720" y="3456432"/>
            <a:ext cx="4160520" cy="548640"/>
          </a:xfrm>
          <a:prstGeom prst="rect">
            <a:avLst/>
          </a:prstGeom>
          <a:solidFill>
            <a:srgbClr val="132B50"/>
          </a:solidFill>
          <a:ln w="6350">
            <a:solidFill>
              <a:srgbClr val="00E5B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09160" y="3456432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🔍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5212080" y="3493008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E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212080" y="373075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Elasticsearch 8.x — fulltext multilingue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617720" y="4133088"/>
            <a:ext cx="4160520" cy="548640"/>
          </a:xfrm>
          <a:prstGeom prst="rect">
            <a:avLst/>
          </a:prstGeom>
          <a:solidFill>
            <a:srgbClr val="132B50"/>
          </a:solidFill>
          <a:ln w="6350">
            <a:solidFill>
              <a:srgbClr val="00C2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09160" y="4133088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🗺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5212080" y="4169664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212080" y="440740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15 (App Router) · Leaflet · Mapbox GL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228600" y="48180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Frise des statuts :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1600200" y="4809744"/>
            <a:ext cx="1691640" cy="256032"/>
          </a:xfrm>
          <a:prstGeom prst="rect">
            <a:avLst/>
          </a:prstGeom>
          <a:solidFill>
            <a:srgbClr val="FF6B35">
              <a:alpha val="20000"/>
            </a:srgbClr>
          </a:solidFill>
          <a:ln w="10160">
            <a:solidFill>
              <a:srgbClr val="FF6B3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577340" y="482115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SCRAPED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3256654" y="4809744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6B35"/>
                </a:solidFill>
              </a:rPr>
              <a:t>→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429000" y="4809744"/>
            <a:ext cx="1691640" cy="256032"/>
          </a:xfrm>
          <a:prstGeom prst="rect">
            <a:avLst/>
          </a:prstGeom>
          <a:solidFill>
            <a:srgbClr val="7B61FF">
              <a:alpha val="20000"/>
            </a:srgbClr>
          </a:solidFill>
          <a:ln w="10160">
            <a:solidFill>
              <a:srgbClr val="7B61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406140" y="4809744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080187" y="4821150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B61FF"/>
                </a:solidFill>
              </a:rPr>
              <a:t>→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5257800" y="4809744"/>
            <a:ext cx="1691640" cy="256032"/>
          </a:xfrm>
          <a:prstGeom prst="rect">
            <a:avLst/>
          </a:prstGeom>
          <a:solidFill>
            <a:srgbClr val="00C2FF">
              <a:alpha val="20000"/>
            </a:srgbClr>
          </a:solidFill>
          <a:ln w="10160">
            <a:solidFill>
              <a:srgbClr val="00C2F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212080" y="483632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CLUSTERED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6931847" y="4809744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C2FF"/>
                </a:solidFill>
              </a:rPr>
              <a:t>→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7086600" y="4809744"/>
            <a:ext cx="1691640" cy="256032"/>
          </a:xfrm>
          <a:prstGeom prst="rect">
            <a:avLst/>
          </a:prstGeom>
          <a:solidFill>
            <a:srgbClr val="00E5B0"/>
          </a:solidFill>
          <a:ln w="10160">
            <a:solidFill>
              <a:srgbClr val="00E5B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097134" y="4805219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PROCESSED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241"/>
          </a:solidFill>
          <a:ln w="12700">
            <a:solidFill>
              <a:srgbClr val="0D224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Diagramme de Cas d'Utilisation (UML)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6949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AXE 4 — MODÉLISATION FONCTIONNELLE</a:t>
            </a:r>
            <a:endParaRPr lang="en-US" sz="11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1005840"/>
            <a:ext cx="3840480" cy="3931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343400" y="69494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Acteurs &amp; Fonctionnalités Clés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343400" y="964551"/>
            <a:ext cx="4480560" cy="274320"/>
          </a:xfrm>
          <a:prstGeom prst="rect">
            <a:avLst/>
          </a:prstGeom>
          <a:solidFill>
            <a:srgbClr val="00C2FF"/>
          </a:solidFill>
          <a:ln w="6350">
            <a:solidFill>
              <a:srgbClr val="00C2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389120" y="946263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Grand Public (GP)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343400" y="1257159"/>
            <a:ext cx="2148840" cy="274320"/>
          </a:xfrm>
          <a:prstGeom prst="rect">
            <a:avLst/>
          </a:prstGeom>
          <a:solidFill>
            <a:srgbClr val="00C2FF">
              <a:alpha val="12000"/>
            </a:srgbClr>
          </a:solidFill>
          <a:ln w="5080">
            <a:solidFill>
              <a:srgbClr val="00C2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343400" y="1257159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Consulter la Map principale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6583680" y="1257159"/>
            <a:ext cx="2148840" cy="274320"/>
          </a:xfrm>
          <a:prstGeom prst="rect">
            <a:avLst/>
          </a:prstGeom>
          <a:solidFill>
            <a:srgbClr val="00C2FF">
              <a:alpha val="12000"/>
            </a:srgbClr>
          </a:solidFill>
          <a:ln w="5080">
            <a:solidFill>
              <a:srgbClr val="00C2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583680" y="1257159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Rechercher une actualité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4343400" y="1568055"/>
            <a:ext cx="2148840" cy="274320"/>
          </a:xfrm>
          <a:prstGeom prst="rect">
            <a:avLst/>
          </a:prstGeom>
          <a:solidFill>
            <a:srgbClr val="00C2FF">
              <a:alpha val="12000"/>
            </a:srgbClr>
          </a:solidFill>
          <a:ln w="5080">
            <a:solidFill>
              <a:srgbClr val="00C2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343400" y="1568055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Voir score de fiabilité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6583680" y="1568055"/>
            <a:ext cx="2148840" cy="274320"/>
          </a:xfrm>
          <a:prstGeom prst="rect">
            <a:avLst/>
          </a:prstGeom>
          <a:solidFill>
            <a:srgbClr val="00C2FF">
              <a:alpha val="12000"/>
            </a:srgbClr>
          </a:solidFill>
          <a:ln w="5080">
            <a:solidFill>
              <a:srgbClr val="00C2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583680" y="1568055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Consulter synthèse/résumé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4343400" y="1878951"/>
            <a:ext cx="2148840" cy="274320"/>
          </a:xfrm>
          <a:prstGeom prst="rect">
            <a:avLst/>
          </a:prstGeom>
          <a:solidFill>
            <a:srgbClr val="00C2FF">
              <a:alpha val="12000"/>
            </a:srgbClr>
          </a:solidFill>
          <a:ln w="5080">
            <a:solidFill>
              <a:srgbClr val="00C2F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343400" y="1878951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Écouter l'article (Listening)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6583680" y="1878951"/>
            <a:ext cx="2148840" cy="274320"/>
          </a:xfrm>
          <a:prstGeom prst="rect">
            <a:avLst/>
          </a:prstGeom>
          <a:solidFill>
            <a:srgbClr val="00C2FF">
              <a:alpha val="12000"/>
            </a:srgbClr>
          </a:solidFill>
          <a:ln w="5080">
            <a:solidFill>
              <a:srgbClr val="00C2F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583680" y="1878951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Suivre un événement / Notifs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4343400" y="2189847"/>
            <a:ext cx="2148840" cy="274320"/>
          </a:xfrm>
          <a:prstGeom prst="rect">
            <a:avLst/>
          </a:prstGeom>
          <a:solidFill>
            <a:srgbClr val="00C2FF">
              <a:alpha val="12000"/>
            </a:srgbClr>
          </a:solidFill>
          <a:ln w="5080">
            <a:solidFill>
              <a:srgbClr val="00C2F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343400" y="2189847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Consulter la Timeline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6583680" y="2189847"/>
            <a:ext cx="2148840" cy="274320"/>
          </a:xfrm>
          <a:prstGeom prst="rect">
            <a:avLst/>
          </a:prstGeom>
          <a:solidFill>
            <a:srgbClr val="00C2FF">
              <a:alpha val="12000"/>
            </a:srgbClr>
          </a:solidFill>
          <a:ln w="5080">
            <a:solidFill>
              <a:srgbClr val="00C2F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583680" y="2189847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Faire un commentaire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4343400" y="2477553"/>
            <a:ext cx="4480560" cy="274320"/>
          </a:xfrm>
          <a:prstGeom prst="rect">
            <a:avLst/>
          </a:prstGeom>
          <a:solidFill>
            <a:srgbClr val="7B61FF"/>
          </a:solidFill>
          <a:ln w="6350">
            <a:solidFill>
              <a:srgbClr val="7B61F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434840" y="2477553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Journaliste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4343400" y="2770161"/>
            <a:ext cx="2148840" cy="274320"/>
          </a:xfrm>
          <a:prstGeom prst="rect">
            <a:avLst/>
          </a:prstGeom>
          <a:solidFill>
            <a:srgbClr val="7B61FF">
              <a:alpha val="12000"/>
            </a:srgbClr>
          </a:solidFill>
          <a:ln w="5080">
            <a:solidFill>
              <a:srgbClr val="7B61F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343400" y="2770161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S'authentifier (optionnel)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6583680" y="2770161"/>
            <a:ext cx="2148840" cy="274320"/>
          </a:xfrm>
          <a:prstGeom prst="rect">
            <a:avLst/>
          </a:prstGeom>
          <a:solidFill>
            <a:srgbClr val="7B61FF">
              <a:alpha val="12000"/>
            </a:srgbClr>
          </a:solidFill>
          <a:ln w="5080">
            <a:solidFill>
              <a:srgbClr val="7B61FF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583680" y="2770161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Soumettre/Gérer ses articles</a:t>
            </a:r>
            <a:endParaRPr lang="en-US" sz="800" dirty="0"/>
          </a:p>
        </p:txBody>
      </p:sp>
      <p:sp>
        <p:nvSpPr>
          <p:cNvPr id="32" name="Shape 29"/>
          <p:cNvSpPr/>
          <p:nvPr/>
        </p:nvSpPr>
        <p:spPr>
          <a:xfrm>
            <a:off x="4343400" y="3081057"/>
            <a:ext cx="2148840" cy="274320"/>
          </a:xfrm>
          <a:prstGeom prst="rect">
            <a:avLst/>
          </a:prstGeom>
          <a:solidFill>
            <a:srgbClr val="7B61FF">
              <a:alpha val="12000"/>
            </a:srgbClr>
          </a:solidFill>
          <a:ln w="5080">
            <a:solidFill>
              <a:srgbClr val="7B61FF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343400" y="3081057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Définir préférences (Topics/Géoloc)</a:t>
            </a:r>
            <a:endParaRPr lang="en-US" sz="800" dirty="0"/>
          </a:p>
        </p:txBody>
      </p:sp>
      <p:sp>
        <p:nvSpPr>
          <p:cNvPr id="34" name="Shape 31"/>
          <p:cNvSpPr/>
          <p:nvPr/>
        </p:nvSpPr>
        <p:spPr>
          <a:xfrm>
            <a:off x="4343400" y="3423627"/>
            <a:ext cx="4480560" cy="274320"/>
          </a:xfrm>
          <a:prstGeom prst="rect">
            <a:avLst/>
          </a:prstGeom>
          <a:solidFill>
            <a:srgbClr val="FF6B35"/>
          </a:solidFill>
          <a:ln w="6350">
            <a:solidFill>
              <a:srgbClr val="FF6B35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434840" y="3423627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Administrateur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4343400" y="3716235"/>
            <a:ext cx="2148840" cy="274320"/>
          </a:xfrm>
          <a:prstGeom prst="rect">
            <a:avLst/>
          </a:prstGeom>
          <a:solidFill>
            <a:srgbClr val="FF6B35">
              <a:alpha val="12000"/>
            </a:srgbClr>
          </a:solidFill>
          <a:ln w="5080">
            <a:solidFill>
              <a:srgbClr val="FF6B35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343400" y="3716235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Accéder au Dashboard</a:t>
            </a:r>
            <a:endParaRPr lang="en-US" sz="800" dirty="0"/>
          </a:p>
        </p:txBody>
      </p:sp>
      <p:sp>
        <p:nvSpPr>
          <p:cNvPr id="38" name="Shape 35"/>
          <p:cNvSpPr/>
          <p:nvPr/>
        </p:nvSpPr>
        <p:spPr>
          <a:xfrm>
            <a:off x="6583680" y="3716235"/>
            <a:ext cx="2148840" cy="274320"/>
          </a:xfrm>
          <a:prstGeom prst="rect">
            <a:avLst/>
          </a:prstGeom>
          <a:solidFill>
            <a:srgbClr val="FF6B35">
              <a:alpha val="12000"/>
            </a:srgbClr>
          </a:solidFill>
          <a:ln w="5080">
            <a:solidFill>
              <a:srgbClr val="FF6B35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583680" y="3716235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Gérer les journalistes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4343400" y="4027131"/>
            <a:ext cx="2148840" cy="274320"/>
          </a:xfrm>
          <a:prstGeom prst="rect">
            <a:avLst/>
          </a:prstGeom>
          <a:solidFill>
            <a:srgbClr val="FF6B35">
              <a:alpha val="12000"/>
            </a:srgbClr>
          </a:solidFill>
          <a:ln w="5080">
            <a:solidFill>
              <a:srgbClr val="FF6B35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4343400" y="4027131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Promouvoir/Masquer articles</a:t>
            </a:r>
            <a:endParaRPr lang="en-US" sz="800" dirty="0"/>
          </a:p>
        </p:txBody>
      </p:sp>
      <p:sp>
        <p:nvSpPr>
          <p:cNvPr id="42" name="Shape 39"/>
          <p:cNvSpPr/>
          <p:nvPr/>
        </p:nvSpPr>
        <p:spPr>
          <a:xfrm>
            <a:off x="6583680" y="4027131"/>
            <a:ext cx="2148840" cy="274320"/>
          </a:xfrm>
          <a:prstGeom prst="rect">
            <a:avLst/>
          </a:prstGeom>
          <a:solidFill>
            <a:srgbClr val="FF6B35">
              <a:alpha val="12000"/>
            </a:srgbClr>
          </a:solidFill>
          <a:ln w="5080">
            <a:solidFill>
              <a:srgbClr val="FF6B35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6583680" y="4027131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Modérer les commentaires</a:t>
            </a:r>
            <a:endParaRPr lang="en-US" sz="800" dirty="0"/>
          </a:p>
        </p:txBody>
      </p:sp>
      <p:sp>
        <p:nvSpPr>
          <p:cNvPr id="44" name="Shape 41"/>
          <p:cNvSpPr/>
          <p:nvPr/>
        </p:nvSpPr>
        <p:spPr>
          <a:xfrm>
            <a:off x="4343400" y="4338027"/>
            <a:ext cx="2148840" cy="274320"/>
          </a:xfrm>
          <a:prstGeom prst="rect">
            <a:avLst/>
          </a:prstGeom>
          <a:solidFill>
            <a:srgbClr val="FF6B35">
              <a:alpha val="12000"/>
            </a:srgbClr>
          </a:solidFill>
          <a:ln w="5080">
            <a:solidFill>
              <a:srgbClr val="FF6B35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4343400" y="4338027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Bloquer/Supprimer utilisateurs</a:t>
            </a:r>
            <a:endParaRPr lang="en-US" sz="800" dirty="0"/>
          </a:p>
        </p:txBody>
      </p:sp>
      <p:sp>
        <p:nvSpPr>
          <p:cNvPr id="46" name="Shape 43"/>
          <p:cNvSpPr/>
          <p:nvPr/>
        </p:nvSpPr>
        <p:spPr>
          <a:xfrm>
            <a:off x="6583680" y="4338027"/>
            <a:ext cx="2148840" cy="274320"/>
          </a:xfrm>
          <a:prstGeom prst="rect">
            <a:avLst/>
          </a:prstGeom>
          <a:solidFill>
            <a:srgbClr val="FF6B35">
              <a:alpha val="12000"/>
            </a:srgbClr>
          </a:solidFill>
          <a:ln w="5080">
            <a:solidFill>
              <a:srgbClr val="FF6B35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6583680" y="4338027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Ajouter des sources</a:t>
            </a:r>
            <a:endParaRPr lang="en-US" sz="800" dirty="0"/>
          </a:p>
        </p:txBody>
      </p:sp>
      <p:sp>
        <p:nvSpPr>
          <p:cNvPr id="48" name="Shape 45"/>
          <p:cNvSpPr/>
          <p:nvPr/>
        </p:nvSpPr>
        <p:spPr>
          <a:xfrm>
            <a:off x="4343400" y="4648923"/>
            <a:ext cx="2148840" cy="274320"/>
          </a:xfrm>
          <a:prstGeom prst="rect">
            <a:avLst/>
          </a:prstGeom>
          <a:solidFill>
            <a:srgbClr val="FF6B35">
              <a:alpha val="12000"/>
            </a:srgbClr>
          </a:solidFill>
          <a:ln w="5080">
            <a:solidFill>
              <a:srgbClr val="FF6B35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4343400" y="4648923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Consulter les statistiques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241"/>
          </a:solidFill>
          <a:ln w="12700">
            <a:solidFill>
              <a:srgbClr val="0D224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Conceptuel de Données (MCD)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6949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AXE 5 — MODÉLISATION DES DONNÉES</a:t>
            </a:r>
            <a:endParaRPr lang="en-US" sz="11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960120"/>
            <a:ext cx="4572000" cy="3977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74920" y="10058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Entités principales &amp; Relations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074920" y="1371600"/>
            <a:ext cx="3749040" cy="457200"/>
          </a:xfrm>
          <a:prstGeom prst="rect">
            <a:avLst/>
          </a:prstGeom>
          <a:solidFill>
            <a:srgbClr val="00C2FF">
              <a:alpha val="12000"/>
            </a:srgbClr>
          </a:solidFill>
          <a:ln w="8890">
            <a:solidFill>
              <a:srgbClr val="00C2F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074920" y="1371600"/>
            <a:ext cx="1280160" cy="457200"/>
          </a:xfrm>
          <a:prstGeom prst="rect">
            <a:avLst/>
          </a:prstGeom>
          <a:solidFill>
            <a:srgbClr val="00C2FF">
              <a:alpha val="35000"/>
            </a:srgbClr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74920" y="13716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6400800" y="1389888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· title · content · url · published_at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source_id · event_id · created_at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5074920" y="1901952"/>
            <a:ext cx="3749040" cy="457200"/>
          </a:xfrm>
          <a:prstGeom prst="rect">
            <a:avLst/>
          </a:prstGeom>
          <a:solidFill>
            <a:srgbClr val="7B61FF">
              <a:alpha val="12000"/>
            </a:srgbClr>
          </a:solidFill>
          <a:ln w="8890">
            <a:solidFill>
              <a:srgbClr val="7B61F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074920" y="1901952"/>
            <a:ext cx="1280160" cy="457200"/>
          </a:xfrm>
          <a:prstGeom prst="rect">
            <a:avLst/>
          </a:prstGeom>
          <a:solidFill>
            <a:srgbClr val="7B61FF">
              <a:alpha val="35000"/>
            </a:srgbClr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074920" y="1901952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400800" y="1920240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· title (generated) · summary (LLM)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created_at · updated_at · topic · country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5074920" y="2432304"/>
            <a:ext cx="3749040" cy="457200"/>
          </a:xfrm>
          <a:prstGeom prst="rect">
            <a:avLst/>
          </a:prstGeom>
          <a:solidFill>
            <a:srgbClr val="00E5B0">
              <a:alpha val="12000"/>
            </a:srgbClr>
          </a:solidFill>
          <a:ln w="8890">
            <a:solidFill>
              <a:srgbClr val="00E5B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074920" y="2432304"/>
            <a:ext cx="1280160" cy="457200"/>
          </a:xfrm>
          <a:prstGeom prst="rect">
            <a:avLst/>
          </a:prstGeom>
          <a:solidFill>
            <a:srgbClr val="00E5B0">
              <a:alpha val="35000"/>
            </a:srgbClr>
          </a:solidFill>
          <a:ln w="12700">
            <a:solidFill>
              <a:srgbClr val="00E5B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074920" y="2432304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6400800" y="2450592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· article_id · vector [1536 dim]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stocké via pgvector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5074920" y="2962656"/>
            <a:ext cx="3749040" cy="457200"/>
          </a:xfrm>
          <a:prstGeom prst="rect">
            <a:avLst/>
          </a:prstGeom>
          <a:solidFill>
            <a:srgbClr val="FF6B35">
              <a:alpha val="12000"/>
            </a:srgbClr>
          </a:solidFill>
          <a:ln w="8890">
            <a:solidFill>
              <a:srgbClr val="FF6B35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074920" y="2962656"/>
            <a:ext cx="1280160" cy="457200"/>
          </a:xfrm>
          <a:prstGeom prst="rect">
            <a:avLst/>
          </a:prstGeom>
          <a:solidFill>
            <a:srgbClr val="FF6B35">
              <a:alpha val="35000"/>
            </a:srgbClr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074920" y="2962656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6400800" y="2980944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· name · credibility_score · country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5074920" y="3493008"/>
            <a:ext cx="3749040" cy="457200"/>
          </a:xfrm>
          <a:prstGeom prst="rect">
            <a:avLst/>
          </a:prstGeom>
          <a:solidFill>
            <a:srgbClr val="FF3B6B">
              <a:alpha val="12000"/>
            </a:srgbClr>
          </a:solidFill>
          <a:ln w="8890">
            <a:solidFill>
              <a:srgbClr val="FF3B6B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074920" y="3493008"/>
            <a:ext cx="1280160" cy="457200"/>
          </a:xfrm>
          <a:prstGeom prst="rect">
            <a:avLst/>
          </a:prstGeom>
          <a:solidFill>
            <a:srgbClr val="FF3B6B">
              <a:alpha val="35000"/>
            </a:srgbClr>
          </a:solidFill>
          <a:ln w="12700">
            <a:solidFill>
              <a:srgbClr val="FF3B6B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074920" y="349300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6400800" y="3511296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· name · email · role (GUEST/AUTH/JOURNALIST/ADMIN)</a:t>
            </a:r>
            <a:endParaRPr lang="en-US" sz="800" dirty="0"/>
          </a:p>
        </p:txBody>
      </p:sp>
      <p:sp>
        <p:nvSpPr>
          <p:cNvPr id="28" name="Shape 25"/>
          <p:cNvSpPr/>
          <p:nvPr/>
        </p:nvSpPr>
        <p:spPr>
          <a:xfrm>
            <a:off x="5074920" y="4023360"/>
            <a:ext cx="3749040" cy="457200"/>
          </a:xfrm>
          <a:prstGeom prst="rect">
            <a:avLst/>
          </a:prstGeom>
          <a:solidFill>
            <a:srgbClr val="7B61FF">
              <a:alpha val="12000"/>
            </a:srgbClr>
          </a:solidFill>
          <a:ln w="8890">
            <a:solidFill>
              <a:srgbClr val="7B61FF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5074920" y="4023360"/>
            <a:ext cx="1280160" cy="457200"/>
          </a:xfrm>
          <a:prstGeom prst="rect">
            <a:avLst/>
          </a:prstGeom>
          <a:solidFill>
            <a:srgbClr val="7B61FF">
              <a:alpha val="35000"/>
            </a:srgbClr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074920" y="40233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6400800" y="4041648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· user_id · event_id · content · created_at</a:t>
            </a:r>
            <a:endParaRPr lang="en-US" sz="800" dirty="0"/>
          </a:p>
        </p:txBody>
      </p:sp>
      <p:sp>
        <p:nvSpPr>
          <p:cNvPr id="32" name="Shape 29"/>
          <p:cNvSpPr/>
          <p:nvPr/>
        </p:nvSpPr>
        <p:spPr>
          <a:xfrm>
            <a:off x="5074920" y="4553712"/>
            <a:ext cx="3749040" cy="457200"/>
          </a:xfrm>
          <a:prstGeom prst="rect">
            <a:avLst/>
          </a:prstGeom>
          <a:solidFill>
            <a:srgbClr val="00E5B0">
              <a:alpha val="12000"/>
            </a:srgbClr>
          </a:solidFill>
          <a:ln w="8890">
            <a:solidFill>
              <a:srgbClr val="00E5B0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5074920" y="4553712"/>
            <a:ext cx="1280160" cy="457200"/>
          </a:xfrm>
          <a:prstGeom prst="rect">
            <a:avLst/>
          </a:prstGeom>
          <a:solidFill>
            <a:srgbClr val="00E5B0">
              <a:alpha val="35000"/>
            </a:srgbClr>
          </a:solidFill>
          <a:ln w="12700">
            <a:solidFill>
              <a:srgbClr val="00E5B0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074920" y="4553712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FactCheckRequest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6400800" y="4572000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· user_id · input_text_url · result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(true/false/uncertain) · explanation · created_at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241"/>
          </a:solidFill>
          <a:ln w="12700">
            <a:solidFill>
              <a:srgbClr val="0D224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d'Ingestion &amp; Intelligence IA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6949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AXE 6 — COLLECTE &amp; TRAITEMENT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143000"/>
            <a:ext cx="1463040" cy="1508760"/>
          </a:xfrm>
          <a:prstGeom prst="rect">
            <a:avLst/>
          </a:prstGeom>
          <a:solidFill>
            <a:srgbClr val="132B50"/>
          </a:solidFill>
          <a:ln w="8890">
            <a:solidFill>
              <a:srgbClr val="00C2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21615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📡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20040" y="1709928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RSS Feed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" y="20574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BBC · CNN · Al Jazeera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828800" y="1897380"/>
            <a:ext cx="274320" cy="0"/>
          </a:xfrm>
          <a:prstGeom prst="line">
            <a:avLst/>
          </a:prstGeom>
          <a:noFill/>
          <a:ln w="19050">
            <a:solidFill>
              <a:srgbClr val="00C2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74520" y="1760220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C2FF"/>
                </a:solidFill>
              </a:rPr>
              <a:t>▶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148840" y="1143000"/>
            <a:ext cx="1463040" cy="1508760"/>
          </a:xfrm>
          <a:prstGeom prst="rect">
            <a:avLst/>
          </a:prstGeom>
          <a:solidFill>
            <a:srgbClr val="132B50"/>
          </a:solidFill>
          <a:ln w="8890">
            <a:solidFill>
              <a:srgbClr val="7B61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48840" y="121615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148840" y="1709928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148840" y="20574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Chromium masqué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657600" y="1897380"/>
            <a:ext cx="274320" cy="0"/>
          </a:xfrm>
          <a:prstGeom prst="line">
            <a:avLst/>
          </a:prstGeom>
          <a:noFill/>
          <a:ln w="19050">
            <a:solidFill>
              <a:srgbClr val="7B61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03320" y="1760220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B61FF"/>
                </a:solidFill>
              </a:rPr>
              <a:t>▶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977640" y="1143000"/>
            <a:ext cx="1463040" cy="1508760"/>
          </a:xfrm>
          <a:prstGeom prst="rect">
            <a:avLst/>
          </a:prstGeom>
          <a:solidFill>
            <a:srgbClr val="132B50"/>
          </a:solidFill>
          <a:ln w="8890">
            <a:solidFill>
              <a:srgbClr val="00E5B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977640" y="121615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🧹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3977640" y="1709928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E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BeautifulSoup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977640" y="20574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&lt;p&gt; pur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486400" y="1897380"/>
            <a:ext cx="274320" cy="0"/>
          </a:xfrm>
          <a:prstGeom prst="line">
            <a:avLst/>
          </a:prstGeom>
          <a:noFill/>
          <a:ln w="19050">
            <a:solidFill>
              <a:srgbClr val="00E5B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32120" y="1760220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E5B0"/>
                </a:solidFill>
              </a:rPr>
              <a:t>▶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806440" y="1143000"/>
            <a:ext cx="1463040" cy="1508760"/>
          </a:xfrm>
          <a:prstGeom prst="rect">
            <a:avLst/>
          </a:prstGeom>
          <a:solidFill>
            <a:srgbClr val="132B50"/>
          </a:solidFill>
          <a:ln w="8890">
            <a:solidFill>
              <a:srgbClr val="FF6B3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06440" y="121615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🔒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806440" y="1709928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Idempotence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806440" y="20574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Unicité URL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7315200" y="1897380"/>
            <a:ext cx="274320" cy="0"/>
          </a:xfrm>
          <a:prstGeom prst="line">
            <a:avLst/>
          </a:prstGeom>
          <a:noFill/>
          <a:ln w="19050">
            <a:solidFill>
              <a:srgbClr val="FF6B3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60920" y="1760220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6B35"/>
                </a:solidFill>
              </a:rPr>
              <a:t>▶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635240" y="1143000"/>
            <a:ext cx="1463040" cy="1508760"/>
          </a:xfrm>
          <a:prstGeom prst="rect">
            <a:avLst/>
          </a:prstGeom>
          <a:solidFill>
            <a:srgbClr val="132B50"/>
          </a:solidFill>
          <a:ln w="8890">
            <a:solidFill>
              <a:srgbClr val="00E5B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635240" y="121615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7635240" y="1709928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E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SCRAPED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635240" y="20574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 initial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65760" y="2834640"/>
            <a:ext cx="4114800" cy="2103120"/>
          </a:xfrm>
          <a:prstGeom prst="rect">
            <a:avLst/>
          </a:prstGeom>
          <a:solidFill>
            <a:srgbClr val="132B50"/>
          </a:solidFill>
          <a:ln w="8890">
            <a:solidFill>
              <a:srgbClr val="7B61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65760" y="2834640"/>
            <a:ext cx="4114800" cy="365760"/>
          </a:xfrm>
          <a:prstGeom prst="rect">
            <a:avLst/>
          </a:prstGeom>
          <a:solidFill>
            <a:srgbClr val="7B61FF">
              <a:alpha val="22000"/>
            </a:srgbClr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2920" y="283464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🧬  VECTORISATION — Grok x.AI (1536 dim)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02920" y="3264408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du texte en vecteur mathématique via API Grok (SDK OpenAI compatible). Cache Redis MD5 pour éviter les appels API redondants. Statut → EMBEDDED.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02920" y="3931920"/>
            <a:ext cx="3749040" cy="749808"/>
          </a:xfrm>
          <a:prstGeom prst="rect">
            <a:avLst/>
          </a:prstGeom>
          <a:solidFill>
            <a:srgbClr val="FF6B35">
              <a:alpha val="12000"/>
            </a:srgbClr>
          </a:solidFill>
          <a:ln w="8890">
            <a:solidFill>
              <a:srgbClr val="FF6B3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0080" y="395935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Cache Redis MD5 — économie API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40080" y="42062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hash MD5 connu → vecteur extrait instantanément sans appel externe.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663440" y="2834640"/>
            <a:ext cx="4160520" cy="2103120"/>
          </a:xfrm>
          <a:prstGeom prst="rect">
            <a:avLst/>
          </a:prstGeom>
          <a:solidFill>
            <a:srgbClr val="132B50"/>
          </a:solidFill>
          <a:ln w="8890">
            <a:solidFill>
              <a:srgbClr val="00C2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663440" y="2834640"/>
            <a:ext cx="4160520" cy="365760"/>
          </a:xfrm>
          <a:prstGeom prst="rect">
            <a:avLst/>
          </a:prstGeom>
          <a:solidFill>
            <a:srgbClr val="00C2FF">
              <a:alpha val="22000"/>
            </a:srgbClr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00600" y="28346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🔵  CLUSTERING — Distance Cosinus pgvector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800600" y="326440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Opérateur :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943600" y="3264408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Cosinus &lt;=&gt; (pgvector)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800600" y="373989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Seuil :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943600" y="3739896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E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0.18  ≡  82% similarité minimale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800600" y="421538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Fenêtre :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943600" y="4215384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 heures glissantes max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4800600" y="4389120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&lt; 0.18 → </a:t>
            </a:r>
            <a:r>
              <a:rPr lang="en-US" sz="950" b="1" dirty="0">
                <a:solidFill>
                  <a:srgbClr val="00E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Rattaché à l'Event existant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≥ 0.18 → </a:t>
            </a:r>
            <a:endParaRPr lang="en-US" sz="950" dirty="0"/>
          </a:p>
          <a:p>
            <a:pPr marL="0" indent="0" algn="l">
              <a:buNone/>
            </a:pPr>
            <a:r>
              <a:rPr lang="en-US" sz="9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Nouvel Event créé  •  Statut → CLUSTERED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241"/>
          </a:solidFill>
          <a:ln w="12700">
            <a:solidFill>
              <a:srgbClr val="0D224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Matrice des Permissions par Acteur (RBAC)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6949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AXE 7 — SÉCURITÉ &amp; CONTRÔLE D'ACCÈS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90931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6.4 — Matrice complète des droits d'accès — 5 rôles × 11 fonctionnalités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1049648"/>
              </p:ext>
            </p:extLst>
          </p:nvPr>
        </p:nvGraphicFramePr>
        <p:xfrm>
          <a:off x="365760" y="1141209"/>
          <a:ext cx="8412480" cy="347472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95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Fonctionnalité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Guest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Journalist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Système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Lire le feed &amp; articles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E5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E5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E5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E5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Recherche / filtres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E5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E5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E5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E5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 fiabilité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E5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E5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E5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E5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C2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Calcul auto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Vue cartographique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3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E5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E5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E5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6B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Mapbox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Timeline événement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E5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E5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E5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E5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Commenter / analyser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3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E5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E5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E5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Fact-checker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3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E5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E5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E5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C2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IA analyse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Soumettre du contenu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3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3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E5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E5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Scraping automatique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6B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Cron 30 min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Synthèse IA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B61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Grog API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Modération &amp; admin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3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3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3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E5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365760" y="4739232"/>
            <a:ext cx="8412480" cy="0"/>
          </a:xfrm>
          <a:prstGeom prst="rect">
            <a:avLst/>
          </a:prstGeom>
          <a:solidFill>
            <a:srgbClr val="0D2241"/>
          </a:solidFill>
          <a:ln w="6350">
            <a:solidFill>
              <a:srgbClr val="7B61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65760" y="4770434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Sécurité : JWT (jetons éphémères signés) · bcrypt (hachage unidirectionnel) · Injection de dépendances FastAPI · Code 403 Forbidden sur rôle insuffisant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241"/>
          </a:solidFill>
          <a:ln w="12700">
            <a:solidFill>
              <a:srgbClr val="0D224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Technologique — 12 couches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6949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AXE 8 — CHOIX TECHNIQUES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0789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7.1 — Justifications techniques de chaque composant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89888"/>
          <a:ext cx="8412480" cy="3639311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994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Couche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Technologie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Justification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994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 API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C2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FastAPI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Async natif, performances élevées, écosystème IA riche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994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de données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C2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PostgreSQL + JSONB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Schéma relationnel + stockage JSON flexible pour body synthétisé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994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Moteur de recherche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C2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Elasticsearch 8.x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Full-text multilingue, filtres géo, date, topic simultanés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994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Cache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6B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Redis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TTL 5-15 min sur articles synthétisés, invalidation par topic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994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IA Synthesis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7B61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Grog (Llama 3.3 70B)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Gratuit en développement, compatible OpenAI API, faible latence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994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Scraping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E5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feedparser + Playwright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RSS pour sources standards, Playwright pour pages dynamiques JS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994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Queue / Scheduler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C2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APScheduler (async)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Cron toutes les 30 min, retry automatique avec backoff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994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 Web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C2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Next.js 15 (App Router)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SSR pour SEO, React Query pour état serveur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994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E5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 Native + Expo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Cross-platform iOS/Android, même API backend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994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Cartographie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6B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Mapbox GL JS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Clusters de pays, marqueurs géo pour DualView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994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Notifications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6B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Firebase FCM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Push iOS et Android pour alertes topics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994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7B61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Sentry + Grafana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Erreurs temps réel + métriques scraping et API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241"/>
          </a:solidFill>
          <a:ln w="12700">
            <a:solidFill>
              <a:srgbClr val="0D224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Risques &amp; Stratégies de Mitigation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6949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AXE 9 — GESTION DES RISQUES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0789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— Matrice des risques identifiés — criticité et réponses opérationnelles</a:t>
            </a:r>
            <a:endParaRPr lang="en-US" sz="11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89888"/>
          <a:ext cx="8412480" cy="3017518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94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107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Risque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Criticité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Stratégie de Mitigation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07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6B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Scraping légal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6B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HAUTE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1A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Priorité RSS, vérification robots.txt, Crawl-delay respecté, partenariats sources envisagés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107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Coût API IA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7B61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MOYENNE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Grog gratuit en dev, Haiku pour clustering en prod, alerte budget dès J1, cache Redis agressif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107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6B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 en retard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6B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HAUTE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1A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Chaque feature Phase N développée en parallèle web + mobile dans le même sprint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107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Qualité synthèse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7B61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MOYENNE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 versioning en base, A/B test prompts, validation JSON côté serveur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107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Scalabilité 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0E5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FAIBLE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Index mapping défini en Phase 0, pagination systématique (max 100), geo_point natif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107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Sécurité données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7B61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MOYENNE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JWT + refresh tokens, secrets en variables d'env, jamais en code source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365760" y="45720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Légende des criticités :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2286000" y="4590288"/>
            <a:ext cx="1554480" cy="237744"/>
          </a:xfrm>
          <a:prstGeom prst="rect">
            <a:avLst/>
          </a:prstGeom>
          <a:solidFill>
            <a:srgbClr val="FF6B35">
              <a:alpha val="25000"/>
            </a:srgbClr>
          </a:solidFill>
          <a:ln w="10160">
            <a:solidFill>
              <a:srgbClr val="FF6B3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286000" y="4590288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HAUTE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114800" y="4590288"/>
            <a:ext cx="1554480" cy="237744"/>
          </a:xfrm>
          <a:prstGeom prst="rect">
            <a:avLst/>
          </a:prstGeom>
          <a:solidFill>
            <a:srgbClr val="7B61FF">
              <a:alpha val="25000"/>
            </a:srgbClr>
          </a:solidFill>
          <a:ln w="10160">
            <a:solidFill>
              <a:srgbClr val="7B61FF"/>
            </a:solidFill>
            <a:prstDash val="solid"/>
          </a:ln>
        </p:spPr>
      </p:sp>
      <p:sp>
        <p:nvSpPr>
          <p:cNvPr id="7" name="Text 9"/>
          <p:cNvSpPr/>
          <p:nvPr/>
        </p:nvSpPr>
        <p:spPr>
          <a:xfrm>
            <a:off x="4114800" y="4590288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MOYENNE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943600" y="4590288"/>
            <a:ext cx="1554480" cy="237744"/>
          </a:xfrm>
          <a:prstGeom prst="rect">
            <a:avLst/>
          </a:prstGeom>
          <a:solidFill>
            <a:srgbClr val="00E5B0">
              <a:alpha val="25000"/>
            </a:srgbClr>
          </a:solidFill>
          <a:ln w="10160">
            <a:solidFill>
              <a:srgbClr val="00E5B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43600" y="4590288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E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FAIBLE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241"/>
          </a:solidFill>
          <a:ln w="12700">
            <a:solidFill>
              <a:srgbClr val="0D224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Enrichissement Cognitif IA &amp; Recherche Instantanée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6949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AXE 6 (suite) — INTELLIGENCE AUGMENTÉE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2011680" cy="347472"/>
          </a:xfrm>
          <a:prstGeom prst="rect">
            <a:avLst/>
          </a:prstGeom>
          <a:solidFill>
            <a:srgbClr val="FF6B35">
              <a:alpha val="22000"/>
            </a:srgbClr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7899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SCRAPED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377440" y="1078992"/>
            <a:ext cx="137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6B35"/>
                </a:solidFill>
              </a:rPr>
              <a:t>→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514600" y="1078992"/>
            <a:ext cx="2011680" cy="347472"/>
          </a:xfrm>
          <a:prstGeom prst="rect">
            <a:avLst/>
          </a:prstGeom>
          <a:solidFill>
            <a:srgbClr val="7B61FF">
              <a:alpha val="22000"/>
            </a:srgbClr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14600" y="107899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26280" y="1078992"/>
            <a:ext cx="137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B61FF"/>
                </a:solidFill>
              </a:rPr>
              <a:t>→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1078992"/>
            <a:ext cx="2011680" cy="347472"/>
          </a:xfrm>
          <a:prstGeom prst="rect">
            <a:avLst/>
          </a:prstGeom>
          <a:solidFill>
            <a:srgbClr val="00C2FF">
              <a:alpha val="22000"/>
            </a:srgbClr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07899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CLUSTERED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675120" y="1078992"/>
            <a:ext cx="137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C2FF"/>
                </a:solidFill>
              </a:rPr>
              <a:t>→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812280" y="1078992"/>
            <a:ext cx="2011680" cy="347472"/>
          </a:xfrm>
          <a:prstGeom prst="rect">
            <a:avLst/>
          </a:prstGeom>
          <a:solidFill>
            <a:srgbClr val="00E5B0"/>
          </a:solidFill>
          <a:ln w="12700">
            <a:solidFill>
              <a:srgbClr val="00E5B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12280" y="107899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1572768"/>
            <a:ext cx="5349240" cy="1920240"/>
          </a:xfrm>
          <a:prstGeom prst="rect">
            <a:avLst/>
          </a:prstGeom>
          <a:solidFill>
            <a:srgbClr val="132B50"/>
          </a:solidFill>
          <a:ln w="8890">
            <a:solidFill>
              <a:srgbClr val="00E5B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1572768"/>
            <a:ext cx="5349240" cy="365760"/>
          </a:xfrm>
          <a:prstGeom prst="rect">
            <a:avLst/>
          </a:prstGeom>
          <a:solidFill>
            <a:srgbClr val="00E5B0">
              <a:alpha val="22000"/>
            </a:srgbClr>
          </a:solidFill>
          <a:ln w="12700">
            <a:solidFill>
              <a:srgbClr val="00E5B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1572768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E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SYNTHÈSE OBJECTIVE — LLMService (Grok / Llama 3.3 70B)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" y="20116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E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croisée de toutes les sources d'un même Event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02920" y="232257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E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Élimination des biais subjectifs et politiques (format JSON Pydantic)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02920" y="263347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E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Rédaction d'une synthèse neutre en 3 paragraphes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02920" y="294436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E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: Thème · Pays · Coordonnées GPS (Lat/Long précis)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943600" y="1572768"/>
            <a:ext cx="2880360" cy="1920240"/>
          </a:xfrm>
          <a:prstGeom prst="rect">
            <a:avLst/>
          </a:prstGeom>
          <a:solidFill>
            <a:srgbClr val="132B50"/>
          </a:solidFill>
          <a:ln w="8890">
            <a:solidFill>
              <a:srgbClr val="00C2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43600" y="1572768"/>
            <a:ext cx="2880360" cy="365760"/>
          </a:xfrm>
          <a:prstGeom prst="rect">
            <a:avLst/>
          </a:prstGeom>
          <a:solidFill>
            <a:srgbClr val="00C2FF">
              <a:alpha val="22000"/>
            </a:srgbClr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80760" y="157276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Elasticsearch 8.x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080760" y="201168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plein texte sur Events.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Autocomplétion instantanée.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Filtres géo + date + topic.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080760" y="288036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50 ms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6080760" y="3218688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latence de recherche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65760" y="3611880"/>
            <a:ext cx="8458200" cy="1280160"/>
          </a:xfrm>
          <a:prstGeom prst="rect">
            <a:avLst/>
          </a:prstGeom>
          <a:solidFill>
            <a:srgbClr val="0D2241"/>
          </a:solidFill>
          <a:ln w="6350">
            <a:solidFill>
              <a:srgbClr val="7B61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367588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150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STRUCTURÉES EXTRAITES PAR L'IA  →  Format JSON de sortie validé par Pydantic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548640" y="3977640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0E5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"theme": "Géopolitique",  "country": "IN",  "lat": 28.6139,  "lng": 77.2090,  "summary": "...",  "status": "PROCESSED",  "credibility_score": 4.2 }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241"/>
          </a:solidFill>
          <a:ln w="12700">
            <a:solidFill>
              <a:srgbClr val="0D224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Expérience Utilisateur &amp; Sécurité Applicative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6949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AXE 7 (suite) — PRODUIT FINI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4206240" cy="3840480"/>
          </a:xfrm>
          <a:prstGeom prst="rect">
            <a:avLst/>
          </a:prstGeom>
          <a:solidFill>
            <a:srgbClr val="132B50"/>
          </a:solidFill>
          <a:ln w="8890">
            <a:solidFill>
              <a:srgbClr val="00C2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051560"/>
            <a:ext cx="4206240" cy="384048"/>
          </a:xfrm>
          <a:prstGeom prst="rect">
            <a:avLst/>
          </a:prstGeom>
          <a:solidFill>
            <a:srgbClr val="00C2FF">
              <a:alpha val="22000"/>
            </a:srgbClr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51560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  Interface Cartographique (Next.js 15 + Mapbox GL)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1508760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L'utilisateur ouvre une carte du monde interactive. Chaque événement enrichi par l'IA est positionné sous forme de marqueur GPS cliquable avec score de fiabilité.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223113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 Marqueurs GPS cliquables par Event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48640" y="256946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Fiche synthèse IA — 3 paragraphes neutres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48640" y="290779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 Score de fiabilité 0-5 affiché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48640" y="324612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Timeline chronologique des sources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48640" y="358444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Recherche + autocomplétion Elasticsearch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48640" y="392277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 Notifications push Firebase FCM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48640" y="426110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🎧  Écoute article (Text-to-Speech)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48640" y="459943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App mobile React Native + Expo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800600" y="1051560"/>
            <a:ext cx="4023360" cy="3840480"/>
          </a:xfrm>
          <a:prstGeom prst="rect">
            <a:avLst/>
          </a:prstGeom>
          <a:solidFill>
            <a:srgbClr val="132B50"/>
          </a:solidFill>
          <a:ln w="8890">
            <a:solidFill>
              <a:srgbClr val="FF6B3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00600" y="1051560"/>
            <a:ext cx="4023360" cy="384048"/>
          </a:xfrm>
          <a:prstGeom prst="rect">
            <a:avLst/>
          </a:prstGeom>
          <a:solidFill>
            <a:srgbClr val="FF6B35">
              <a:alpha val="22000"/>
            </a:srgbClr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0" y="1051560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Sécurité RBAC — 4 niveaux de rôles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937760" y="1600200"/>
            <a:ext cx="3749040" cy="658368"/>
          </a:xfrm>
          <a:prstGeom prst="rect">
            <a:avLst/>
          </a:prstGeom>
          <a:solidFill>
            <a:srgbClr val="64748B">
              <a:alpha val="10000"/>
            </a:srgbClr>
          </a:solidFill>
          <a:ln w="8890">
            <a:solidFill>
              <a:srgbClr val="64748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74920" y="163677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74920" y="191109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feed, map (non), synthèses publiques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937760" y="2404872"/>
            <a:ext cx="3749040" cy="658368"/>
          </a:xfrm>
          <a:prstGeom prst="rect">
            <a:avLst/>
          </a:prstGeom>
          <a:solidFill>
            <a:srgbClr val="00C2FF">
              <a:alpha val="10000"/>
            </a:srgbClr>
          </a:solidFill>
          <a:ln w="8890">
            <a:solidFill>
              <a:srgbClr val="00C2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74920" y="244144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AUTH_USER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074920" y="271576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Commentaires · Suivi · Notifs · Fact-checker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937760" y="3209544"/>
            <a:ext cx="3749040" cy="658368"/>
          </a:xfrm>
          <a:prstGeom prst="rect">
            <a:avLst/>
          </a:prstGeom>
          <a:solidFill>
            <a:srgbClr val="7B61FF">
              <a:alpha val="10000"/>
            </a:srgbClr>
          </a:solidFill>
          <a:ln w="8890">
            <a:solidFill>
              <a:srgbClr val="7B61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74920" y="324612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JOURNALIST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074920" y="35204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Soumission &amp; gestion d'articles propres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937760" y="4014216"/>
            <a:ext cx="3749040" cy="658368"/>
          </a:xfrm>
          <a:prstGeom prst="rect">
            <a:avLst/>
          </a:prstGeom>
          <a:solidFill>
            <a:srgbClr val="FF6B35">
              <a:alpha val="10000"/>
            </a:srgbClr>
          </a:solidFill>
          <a:ln w="8890">
            <a:solidFill>
              <a:srgbClr val="FF6B3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74920" y="405079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074920" y="432511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complet · Scraping · Clustering · Modération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937760" y="482803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 ·  bcrypt hashing  ·  Injection FastAPI  ·  403 Forbidden  ·  Variables d'env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0D2241"/>
          </a:solidFill>
          <a:ln w="12700">
            <a:solidFill>
              <a:srgbClr val="0D224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0" y="0"/>
            <a:ext cx="64008" cy="5143500"/>
          </a:xfrm>
          <a:prstGeom prst="rect">
            <a:avLst/>
          </a:prstGeom>
          <a:solidFill>
            <a:srgbClr val="00E5B0"/>
          </a:solidFill>
          <a:ln w="12700">
            <a:solidFill>
              <a:srgbClr val="00E5B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3657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400" dirty="0">
                <a:solidFill>
                  <a:srgbClr val="00E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RÉSUMÉ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804672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627632" y="85039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Axes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présentés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609344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627632" y="1655064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Micro-services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20040" y="2414016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1536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627632" y="2459736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Dimensions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d'embedding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20040" y="3218688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82%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1627632" y="326440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Similarité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20040" y="402336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627632" y="40690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Couches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techno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160520" y="41148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GlobeLens AI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4160520" y="10972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 de nouvelle génération pour une information claire, géolocalisée et débiaisée.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160520" y="1810512"/>
            <a:ext cx="4663440" cy="530352"/>
          </a:xfrm>
          <a:prstGeom prst="rect">
            <a:avLst/>
          </a:prstGeom>
          <a:solidFill>
            <a:srgbClr val="132B50"/>
          </a:solidFill>
          <a:ln w="5080">
            <a:solidFill>
              <a:srgbClr val="00C2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51960" y="1810512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🏗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754880" y="1856232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solide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54880" y="2084832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Architecture 4 couches + Docker Compose 5 services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160520" y="2432304"/>
            <a:ext cx="4663440" cy="530352"/>
          </a:xfrm>
          <a:prstGeom prst="rect">
            <a:avLst/>
          </a:prstGeom>
          <a:solidFill>
            <a:srgbClr val="132B50"/>
          </a:solidFill>
          <a:ln w="5080">
            <a:solidFill>
              <a:srgbClr val="00C2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51960" y="2432304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🤖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754880" y="2478024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de pointe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54880" y="2706624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Grok Llama 3.3 70B + embeddings 1536 dim + pgvector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160520" y="3054096"/>
            <a:ext cx="4663440" cy="530352"/>
          </a:xfrm>
          <a:prstGeom prst="rect">
            <a:avLst/>
          </a:prstGeom>
          <a:solidFill>
            <a:srgbClr val="132B50"/>
          </a:solidFill>
          <a:ln w="5080">
            <a:solidFill>
              <a:srgbClr val="00C2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51960" y="3054096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🗺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754880" y="3099816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innovante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754880" y="3328416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Mapbox GL interactive + React Native cross-platform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160520" y="3675888"/>
            <a:ext cx="4663440" cy="530352"/>
          </a:xfrm>
          <a:prstGeom prst="rect">
            <a:avLst/>
          </a:prstGeom>
          <a:solidFill>
            <a:srgbClr val="132B50"/>
          </a:solidFill>
          <a:ln w="5080">
            <a:solidFill>
              <a:srgbClr val="00C2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251960" y="3675888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🔐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4754880" y="3721608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robuste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754880" y="3950208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bcrypt + RBAC 4 niveaux + Firebase FCM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160520" y="4297680"/>
            <a:ext cx="4663440" cy="530352"/>
          </a:xfrm>
          <a:prstGeom prst="rect">
            <a:avLst/>
          </a:prstGeom>
          <a:solidFill>
            <a:srgbClr val="132B50"/>
          </a:solidFill>
          <a:ln w="5080">
            <a:solidFill>
              <a:srgbClr val="00C2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251960" y="4297680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4754880" y="4343400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&amp; Risques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754880" y="457200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Sentry + Grafana + 6 risques mitigés dès J1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160520" y="4919472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École Hassania des Travaux Publics  ·  PFE 2025/2026  ·  Science Informatique &amp; Big Data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1823</Words>
  <Application>Microsoft Office PowerPoint</Application>
  <PresentationFormat>Affichage à l'écran (16:9)</PresentationFormat>
  <Paragraphs>499</Paragraphs>
  <Slides>14</Slides>
  <Notes>14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Consolas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GlobeLens AI — Rapport de Conception Complet</dc:title>
  <dc:subject>PptxGenJS Presentation</dc:subject>
  <dc:creator>GlobeLens AI</dc:creator>
  <cp:lastModifiedBy>bouroumana abderrazak</cp:lastModifiedBy>
  <cp:revision>3</cp:revision>
  <dcterms:created xsi:type="dcterms:W3CDTF">2026-06-04T07:49:02Z</dcterms:created>
  <dcterms:modified xsi:type="dcterms:W3CDTF">2026-06-04T08:05:59Z</dcterms:modified>
</cp:coreProperties>
</file>