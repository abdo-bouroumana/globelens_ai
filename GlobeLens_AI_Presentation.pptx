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Introduction</a:t>
            </a:r>
          </a:p>
          <a:p>
            <a:r>
              <a:t>• Open by introducing the project name and the core value proposition: transforming fragmented global news into consolidated, bias-aware intelligence.</a:t>
            </a:r>
          </a:p>
          <a:p>
            <a:r>
              <a:t>• Emphasize three pillars: Automated Ingestion, AI Synthesis, and Geospatial Visualization.</a:t>
            </a:r>
          </a:p>
          <a:p>
            <a:r>
              <a:t>• Briefly mention the tech stack at a high level: FastAPI, PostgreSQL+pgvector, Redis, Elasticsearch, Next.js.</a:t>
            </a:r>
          </a:p>
          <a:p>
            <a:r>
              <a:t>• Set the tone: this is an enterprise-grade, production-ready architecture — not 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Problem Statement</a:t>
            </a:r>
          </a:p>
          <a:p>
            <a:r>
              <a:t>• Walk through each problem card briefly: Redundancy (same story amplified 50x), Trust (no live credibility metric), Context (isolated fragments with no history linking).</a:t>
            </a:r>
          </a:p>
          <a:p>
            <a:r>
              <a:t>• Point to the benchmark table — Google News partially clusters but offers zero bias detection or AI summaries. Social media (X) is raw noise. GlobeLens AI fills every gap.</a:t>
            </a:r>
          </a:p>
          <a:p>
            <a:r>
              <a:t>• The key differentiator: GlobeLens is not aggregation — it's intelligent consolidation with mathematical similarity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Use Case Diagram</a:t>
            </a:r>
          </a:p>
          <a:p>
            <a:r>
              <a:t>• Explain the four actor tiers: Guest (anonymous read-only), Auth_User (comments + alerts + fact-check), Journalist (content management), Admin (full system control including pipeline triggers).</a:t>
            </a:r>
          </a:p>
          <a:p>
            <a:r>
              <a:t>• Point out that permissions are additive — each higher role inherits all capabilities of the lower roles.</a:t>
            </a:r>
          </a:p>
          <a:p>
            <a:r>
              <a:t>• Highlight the admin-exclusive pipeline triggers: scrape, embed, cluster — these are protected by JWT + RBAC dependency injection.</a:t>
            </a:r>
          </a:p>
          <a:p>
            <a:r>
              <a:t>• Mention that the Mermaid code here can be rendered into a visual UML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Clean Architecture</a:t>
            </a:r>
          </a:p>
          <a:p>
            <a:r>
              <a:t>• Explain the concentric ring layout: innermost = pure domain entities (zero framework imports), outermost = HTTP controllers.</a:t>
            </a:r>
          </a:p>
          <a:p>
            <a:r>
              <a:t>• The Dependency Inversion Principle ensures all arrows point inward — controllers depend on services, services depend on repos, repos depend on entities. Never the reverse.</a:t>
            </a:r>
          </a:p>
          <a:p>
            <a:r>
              <a:t>• Practical benefit: we could swap PostgreSQL for MongoDB, or FastAPI for Django, and the business logic layer requires zero modifications.</a:t>
            </a:r>
          </a:p>
          <a:p>
            <a:r>
              <a:t>• Mention that testing is trivial — services can be tested with mock repositories injected via constructor.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Domain Class Diagram</a:t>
            </a:r>
          </a:p>
          <a:p>
            <a:r>
              <a:t>• Walk through each entity: User (auth + preferences), Source (publisher + credibility), Article (content unit with processing lifecycle), Event (cluster aggregation with GPS), Embedding (1536-dim vector decoupled from Article).</a:t>
            </a:r>
          </a:p>
          <a:p>
            <a:r>
              <a:t>• Highlight the processing pipeline state machine: SCRAPED → EMBEDDED → CLUSTERED → PROCESSED — each transition is atomic and tracked.</a:t>
            </a:r>
          </a:p>
          <a:p>
            <a:r>
              <a:t>• Point out the Embedding is deliberately decoupled — vector operations are compute-heavy and separating them avoids bloating the Article table.</a:t>
            </a:r>
          </a:p>
          <a:p>
            <a:r>
              <a:t>• The Mermaid classDiagram code can be rendered for visual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6: Docker Compose Stack</a:t>
            </a:r>
          </a:p>
          <a:p>
            <a:r>
              <a:t>• Five containers orchestrated via docker-compose.yml with health-check dependency chains: DB/Cache/Search must be healthy before backend starts, backend must be healthy before frontend starts.</a:t>
            </a:r>
          </a:p>
          <a:p>
            <a:r>
              <a:t>• PostgreSQL uses the pgvector:pg16 image, enabling native vector operations without external vector databases.</a:t>
            </a:r>
          </a:p>
          <a:p>
            <a:r>
              <a:t>• Redis serves as both a caching layer (embedding deduplication) and a pub/sub transport for future notifications.</a:t>
            </a:r>
          </a:p>
          <a:p>
            <a:r>
              <a:t>• Elasticsearch enables sub-millisecond full-text search with autocomplete — not yet active but architecture-ready.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7: Hybrid Ingestion Pipeline</a:t>
            </a:r>
          </a:p>
          <a:p>
            <a:r>
              <a:t>• Explain the dual-action mechanism: RSS feeds are lightweight and fast for URL discovery (feedparser + httpx), but many modern news sites render content via JavaScript that RSS can't capture.</a:t>
            </a:r>
          </a:p>
          <a:p>
            <a:r>
              <a:t>• That's why we spin up headless Playwright Chromium instances — they fully hydrate the DOM, bypassing client-side rendering blocks.</a:t>
            </a:r>
          </a:p>
          <a:p>
            <a:r>
              <a:t>• BeautifulSoup then strips scripts, ads, and junk, extracting only meaningful &lt;p&gt; tags above 30 characters.</a:t>
            </a:r>
          </a:p>
          <a:p>
            <a:r>
              <a:t>• The pipeline targets BBC, CNN, and Al Jazeera — configured via the sources table in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8: Idempotence &amp; Lifecycle</a:t>
            </a:r>
          </a:p>
          <a:p>
            <a:r>
              <a:t>• Walk through the state machine: every article starts as SCRAPED and progresses through four atomic transitions. Each transition is committed independently — a failure at EMBEDDED doesn't corrupt SCRAPED articles.</a:t>
            </a:r>
          </a:p>
          <a:p>
            <a:r>
              <a:t>• URL fingerprint idempotency: before insertion, we execute a SELECT query against the unique URL column. If it already exists, we skip silently. This prevents PostgreSQL constraint violation errors and eliminates the need for retry logic.</a:t>
            </a:r>
          </a:p>
          <a:p>
            <a:r>
              <a:t>• Each pipeline stage is triggered independently via admin API endpoints, giving full operational control over the processing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9: Vectorization</a:t>
            </a:r>
          </a:p>
          <a:p>
            <a:r>
              <a:t>• The EmbeddingService dynamically configures AsyncOpenAI — when LLM_PROVIDER=grok, it points to https://api.x.ai/v1 using the Grok API key. The SDK is OpenAI-compatible, so no code changes needed.</a:t>
            </a:r>
          </a:p>
          <a:p>
            <a:r>
              <a:t>• Each article's title + content is concatenated, then SHA-256 hashed for Redis cache lookup. On cache hit, we skip the API entirely — massive cost savings when the same story appears across multiple outlets.</a:t>
            </a:r>
          </a:p>
          <a:p>
            <a:r>
              <a:t>• The resulting 1536-float vector is stored in PostgreSQL via the pgvector extension. An IVFFlat index with vector_cosine_ops enables fast approximate nearest-neighbor searches.</a:t>
            </a:r>
          </a:p>
          <a:p>
            <a:r>
              <a:t>• Each embedding is stored atomically alongside an Article status transition to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10: Clustering Algorithm</a:t>
            </a:r>
          </a:p>
          <a:p>
            <a:r>
              <a:t>• Walk through the SQL query: the &lt;=&gt; operator is pgvector's native cosine distance. It computes 1 − cos(θ) between two vectors, returning 0.0 for identical and 2.0 for opposite directions.</a:t>
            </a:r>
          </a:p>
          <a:p>
            <a:r>
              <a:t>• The 0.18 threshold means we require at least 82% semantic similarity. This was empirically tuned to balance merging related stories without false positives.</a:t>
            </a:r>
          </a:p>
          <a:p>
            <a:r>
              <a:t>• The 72-hour sliding window prevents old event clusters from absorbing new stories — ensures temporal relevance.</a:t>
            </a:r>
          </a:p>
          <a:p>
            <a:r>
              <a:t>• If no event matches, we spawn a new Event entity with the article's title as a placeholder, to be enriched by the LLM in the next pipeline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11: LLM Consolidation</a:t>
            </a:r>
          </a:p>
          <a:p>
            <a:r>
              <a:t>• The LLMService pulls all articles under a CLUSTERED event, feeds them into a Grok LLM call with a rigid system prompt designed to strip editorial bias.</a:t>
            </a:r>
          </a:p>
          <a:p>
            <a:r>
              <a:t>• The output is structured JSON: a 3-paragraph consolidated summary, topic, country, and GPS coordinates — all extracted automatically.</a:t>
            </a:r>
          </a:p>
          <a:p>
            <a:r>
              <a:t>• This transforms raw article clusters into actionable intelligence with geographic awareness.</a:t>
            </a:r>
          </a:p>
          <a:p>
            <a:r>
              <a:t>• The article's final status becomes PROCESSED — the terminal state in the pipeline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12: Geospatial &amp; Search</a:t>
            </a:r>
          </a:p>
          <a:p>
            <a:r>
              <a:t>• The LLM extracts GPS coordinates as part of its structured JSON output. These are stored in Event.latitude and Event.longitude columns.</a:t>
            </a:r>
          </a:p>
          <a:p>
            <a:r>
              <a:t>• The frontend queries find_map_events() to render pins on a Leaflet.js interactive world map — users see global news spatially.</a:t>
            </a:r>
          </a:p>
          <a:p>
            <a:r>
              <a:t>• Elasticsearch indexes PROCESSED events for sub-millisecond full-text search. The edge_ngram analyzer powers autocomplete suggestions as users type.</a:t>
            </a:r>
          </a:p>
          <a:p>
            <a:r>
              <a:t>• This completes the delivery loop: raw articles → clustered events → enriched intelligence → searchable, mappable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13: Product Vision</a:t>
            </a:r>
          </a:p>
          <a:p>
            <a:r>
              <a:t>• Walk through the four core views: Map (spatial awareness), Feed (chronological stream), Search (instant discovery), Detail (deep-dive with source comparison).</a:t>
            </a:r>
          </a:p>
          <a:p>
            <a:r>
              <a:t>• The map view is the hero feature — it provides geospatial awareness that no existing news platform offers at this level.</a:t>
            </a:r>
          </a:p>
          <a:p>
            <a:r>
              <a:t>• Next.js 14 with SSR ensures fast initial page loads and SEO compatibility. React Query handles server state caching with automatic background refetching.</a:t>
            </a:r>
          </a:p>
          <a:p>
            <a:r>
              <a:t>• Emphasize that this is not a mockup — the architecture is fully built and pipeline-tested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14: Security</a:t>
            </a:r>
          </a:p>
          <a:p>
            <a:r>
              <a:t>• Walk through the authentication stack: passwords are hashed using native Python bcrypt (we avoided passlib due to a Python 3.12 compatibility bug). Each password gets an auto-generated salt.</a:t>
            </a:r>
          </a:p>
          <a:p>
            <a:r>
              <a:t>• JWT tokens are stateless — no server-side session storage. The token carries the user UUID, email, and role. The get_current_user() dependency runs on every protected route, decoding the token and checking if the user is blocked.</a:t>
            </a:r>
          </a:p>
          <a:p>
            <a:r>
              <a:t>• RBAC protection: admin-only endpoints check user.role != ADMIN and throw 403 Forbidden immediately. On success, the pipeline task runs via BackgroundTasks (non-blocking), returning 202 Accepted to the client instantly.</a:t>
            </a:r>
          </a:p>
          <a:p>
            <a:r>
              <a:t>• This pattern — 403 vs 202 — is the security/performance boundary that protects the system while keeping it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GLOBELENS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C8D4"/>
                </a:solidFill>
                <a:latin typeface="Calibri"/>
              </a:defRPr>
            </a:pPr>
            <a:r>
              <a:t>Intelligent Multi-Source News Consolidation &amp; Geospatial Awareness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8B95A5"/>
                </a:solidFill>
                <a:latin typeface="Calibri"/>
              </a:defRPr>
            </a:pPr>
            <a:r>
              <a:t>▸  Automated cross-referencing of global media feeds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8B95A5"/>
                </a:solidFill>
                <a:latin typeface="Calibri"/>
              </a:defRPr>
            </a:pPr>
            <a:r>
              <a:t>▸  AI-driven event clustering, bias detection &amp; synthesis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8B95A5"/>
                </a:solidFill>
                <a:latin typeface="Calibri"/>
              </a:defRPr>
            </a:pPr>
            <a:r>
              <a:t>▸  Interactive geospatial map with real-time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Final Year Graduation Project  •  Computer Science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1 — CONTEXT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Limitations of Existing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38328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Redundancy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Same story ×50 outlets</a:t>
            </a:r>
            <a:br/>
            <a:r>
              <a:t>No deduplication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011680"/>
            <a:ext cx="338328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Trust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No real-time credibility</a:t>
            </a:r>
            <a:br/>
            <a:r>
              <a:t>scoring or bias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011680"/>
            <a:ext cx="338328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Context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Isolated fragments</a:t>
            </a:r>
            <a:br/>
            <a:r>
              <a:t>No timeline reconstruction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8404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News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Social (X)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GlobeLens AI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Cross-source clustering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✓  pgvector cosine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Bias detection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✓  AI classification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AI-consolidated summary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✓  LLM synthesis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Geospatial map view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✓  Leaflet + GPS</a:t>
                      </a:r>
                    </a:p>
                  </a:txBody>
                  <a:tcPr>
                    <a:solidFill>
                      <a:srgbClr val="10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Credibility scoring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✓  Source metrics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1 — USE CASE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Actor-System Interaction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7772400" cy="4389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graph LR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subgraph System["GlobeLens AI Platform"]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UC1["Read News Feed &amp; Timelines"]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UC2["Interactive Map &amp; Geolocation"]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UC3["View Reliability &amp; Bias Scores"]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UC4["Write Comments &amp; Tracking"]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UC5["Submit Fact-Check Request"]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UC6["Subscribe Topic/Country Alerts"]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UC7["Submit &amp; Manage Articles"]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UC8["Access Dashboard &amp; Analytics"]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UC9["Moderate Content &amp; Block Users"]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UC10["Trigger Pipeline (Scrape/Embed/Cluster)"]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Guest --&gt;|read-only| UC1 &amp; UC2 &amp; UC3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Auth_User --&gt; UC1 &amp; UC2 &amp; UC3 &amp; UC4 &amp; UC5 &amp; UC6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Journalist --&gt; UC1 &amp; UC2 &amp; UC3 &amp; UC4 &amp; UC5 &amp; UC6 &amp; UC7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Admin --&gt; UC1 &amp; UC2 &amp; UC3 &amp; UC4 &amp; UC5 &amp; UC6 &amp; UC7 &amp; UC8 &amp; UC9 &amp; UC10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011680"/>
            <a:ext cx="3200400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ROLE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5A5"/>
                </a:solidFill>
                <a:latin typeface="Calibri"/>
              </a:defRPr>
            </a:pPr>
            <a:r>
              <a:t>▸ 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Read-only 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AUTH_USER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Comments, alerts, fact-check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▸ JOURNALIST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Submit &amp; manage articles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▸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Full system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2 —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Clean Architecture — Dependency Inversion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2194560"/>
            <a:ext cx="6400800" cy="4206240"/>
          </a:xfrm>
          <a:prstGeom prst="roundRect">
            <a:avLst/>
          </a:prstGeom>
          <a:solidFill>
            <a:srgbClr val="1A2544"/>
          </a:solidFill>
          <a:ln w="19050">
            <a:solidFill>
              <a:srgbClr val="38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Controllers (API Layer)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651760"/>
            <a:ext cx="4937760" cy="3291840"/>
          </a:xfrm>
          <a:prstGeom prst="roundRect">
            <a:avLst/>
          </a:prstGeom>
          <a:solidFill>
            <a:srgbClr val="1E3050"/>
          </a:solidFill>
          <a:ln w="19050">
            <a:solidFill>
              <a:srgbClr val="38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Services (Business Logic)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108960"/>
            <a:ext cx="3474720" cy="2377440"/>
          </a:xfrm>
          <a:prstGeom prst="roundRect">
            <a:avLst/>
          </a:prstGeom>
          <a:solidFill>
            <a:srgbClr val="223B5C"/>
          </a:solidFill>
          <a:ln w="19050">
            <a:solidFill>
              <a:srgbClr val="38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Repositories (Data Access)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566160"/>
            <a:ext cx="2011680" cy="1463040"/>
          </a:xfrm>
          <a:prstGeom prst="roundRect">
            <a:avLst/>
          </a:prstGeom>
          <a:solidFill>
            <a:srgbClr val="2A4A6E"/>
          </a:solidFill>
          <a:ln w="19050">
            <a:solidFill>
              <a:srgbClr val="38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Domain 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Core Principle: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Dependencies point</a:t>
            </a:r>
            <a:br/>
            <a:r>
              <a:t>inward only</a:t>
            </a:r>
          </a:p>
          <a:p>
            <a:pPr algn="l">
              <a:spcAft>
                <a:spcPts val="8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Framework</a:t>
            </a:r>
            <a:br/>
            <a:r>
              <a:t>Independence: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Swap PostgreSQL</a:t>
            </a:r>
            <a:br/>
            <a:r>
              <a:t>for MongoDB — zero</a:t>
            </a:r>
            <a:br/>
            <a:r>
              <a:t>change to domain</a:t>
            </a:r>
            <a:br/>
            <a:r>
              <a:t>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2860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FastAPI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↓  routes to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AuthService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↓  calls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UserRepository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↓  persists to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2 — DOMAIN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Domain Entity Relationship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731520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classDiagram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User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+String name, email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+UserRole role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+Boolean isBlocked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+List preferredTopics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Source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+String name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+Float credibilityScore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+BiasLean biasLean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Article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+String title, url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+Text content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+ProcessingStatus status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+Boolean isHidden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Event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+String title, summary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+Float lat, lon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+Float importanceScore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Embedding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+Vector(1536) vector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+String model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Comment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+Text content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class FactCheckRequest {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+UUID id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    +FactCheckResult result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Source "1" --&gt; "*" Article : publishes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Event "1" --&gt; "*" Article : contains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Article "1" --&gt; "1" Embedding : has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User "1" --&gt; "*" Comment : writes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Event "1" --&gt; "*" Comment : groups</a:t>
            </a:r>
          </a:p>
          <a:p>
            <a:pPr>
              <a:spcAft>
                <a:spcPts val="100"/>
              </a:spcAft>
              <a:defRPr sz="800">
                <a:solidFill>
                  <a:srgbClr val="A0E8AF"/>
                </a:solidFill>
                <a:latin typeface="Consolas"/>
              </a:defRPr>
            </a:pPr>
            <a:r>
              <a:t>    User "1" --&gt; "*" FactCheckRequest : creates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36576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ENUMERATIONS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060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1">
                <a:solidFill>
                  <a:srgbClr val="387AFF"/>
                </a:solidFill>
                <a:latin typeface="Calibri"/>
              </a:defRPr>
            </a:pPr>
            <a:r>
              <a:t>ProcessingStatus</a:t>
            </a:r>
          </a:p>
          <a:p>
            <a:pPr algn="l">
              <a:spcAft>
                <a:spcPts val="480"/>
              </a:spcAft>
              <a:defRPr sz="1000" b="0">
                <a:solidFill>
                  <a:srgbClr val="8B95A5"/>
                </a:solidFill>
                <a:latin typeface="Calibri"/>
              </a:defRPr>
            </a:pPr>
            <a:r>
              <a:t>SCRAPED → EMBEDDED → CLUSTERED → PROCESSED</a:t>
            </a:r>
          </a:p>
          <a:p>
            <a:pPr algn="l">
              <a:spcAft>
                <a:spcPts val="4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1">
                <a:solidFill>
                  <a:srgbClr val="387AFF"/>
                </a:solidFill>
                <a:latin typeface="Calibri"/>
              </a:defRPr>
            </a:pPr>
            <a:r>
              <a:t>UserRole</a:t>
            </a:r>
          </a:p>
          <a:p>
            <a:pPr algn="l">
              <a:spcAft>
                <a:spcPts val="480"/>
              </a:spcAft>
              <a:defRPr sz="1000" b="0">
                <a:solidFill>
                  <a:srgbClr val="8B95A5"/>
                </a:solidFill>
                <a:latin typeface="Calibri"/>
              </a:defRPr>
            </a:pPr>
            <a:r>
              <a:t>GUEST | AUTH_USER | JOURNALIST | ADMIN</a:t>
            </a:r>
          </a:p>
          <a:p>
            <a:pPr algn="l">
              <a:spcAft>
                <a:spcPts val="4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1">
                <a:solidFill>
                  <a:srgbClr val="387AFF"/>
                </a:solidFill>
                <a:latin typeface="Calibri"/>
              </a:defRPr>
            </a:pPr>
            <a:r>
              <a:t>BiasLean</a:t>
            </a:r>
          </a:p>
          <a:p>
            <a:pPr algn="l">
              <a:spcAft>
                <a:spcPts val="480"/>
              </a:spcAft>
              <a:defRPr sz="1000" b="0">
                <a:solidFill>
                  <a:srgbClr val="8B95A5"/>
                </a:solidFill>
                <a:latin typeface="Calibri"/>
              </a:defRPr>
            </a:pPr>
            <a:r>
              <a:t>LEFT | CENTER_LEFT | CENTER | CENTER_RIGHT | RIGHT</a:t>
            </a:r>
          </a:p>
          <a:p>
            <a:pPr algn="l">
              <a:spcAft>
                <a:spcPts val="4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1">
                <a:solidFill>
                  <a:srgbClr val="387AFF"/>
                </a:solidFill>
                <a:latin typeface="Calibri"/>
              </a:defRPr>
            </a:pPr>
            <a:r>
              <a:t>FactCheckResult</a:t>
            </a:r>
          </a:p>
          <a:p>
            <a:pPr algn="l">
              <a:spcAft>
                <a:spcPts val="480"/>
              </a:spcAft>
              <a:defRPr sz="1000" b="0">
                <a:solidFill>
                  <a:srgbClr val="8B95A5"/>
                </a:solidFill>
                <a:latin typeface="Calibri"/>
              </a:defRPr>
            </a:pPr>
            <a:r>
              <a:t>TRUE | FALSE | UNCERTAIN</a:t>
            </a:r>
          </a:p>
          <a:p>
            <a:pPr algn="l">
              <a:spcAft>
                <a:spcPts val="48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KEY RELATIONSHIPS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C0C8D4"/>
                </a:solidFill>
                <a:latin typeface="Calibri"/>
              </a:defRPr>
            </a:pPr>
            <a:r>
              <a:t>Source 1 ──▸ * Article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C0C8D4"/>
                </a:solidFill>
                <a:latin typeface="Calibri"/>
              </a:defRPr>
            </a:pPr>
            <a:r>
              <a:t>Event 1  ──▸ * Article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C0C8D4"/>
                </a:solidFill>
                <a:latin typeface="Calibri"/>
              </a:defRPr>
            </a:pPr>
            <a:r>
              <a:t>Article 1 ──▸ 1 Embedding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C0C8D4"/>
                </a:solidFill>
                <a:latin typeface="Calibri"/>
              </a:defRPr>
            </a:pPr>
            <a:r>
              <a:t>User 1  ──▸ *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2 —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Multi-Container Orchestrated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1031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1031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Async Python</a:t>
            </a:r>
            <a:br/>
            <a:r>
              <a:t>uvicorn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2103120"/>
            <a:ext cx="21031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2103120"/>
            <a:ext cx="2103120" cy="508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  <a:br/>
            <a:r>
              <a:t>+ pgvector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F"/>
                </a:solidFill>
                <a:latin typeface="Calibri"/>
              </a:defRPr>
            </a:pPr>
            <a:r>
              <a:t>:5432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Relational DB</a:t>
            </a:r>
            <a:br/>
            <a:r>
              <a:t>1536-dim vectors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103120"/>
            <a:ext cx="21031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103120"/>
            <a:ext cx="21031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Redis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:6379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Caching layer</a:t>
            </a:r>
            <a:br/>
            <a:r>
              <a:t>Pub/Sub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2103120"/>
            <a:ext cx="21031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210312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Elasticsearch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:9200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Full-text search</a:t>
            </a:r>
            <a:br/>
            <a:r>
              <a:t>Autocomplete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103120"/>
            <a:ext cx="21031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2103120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Next.js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SSR React</a:t>
            </a:r>
            <a:br/>
            <a:r>
              <a:t>Leaflet maps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572000"/>
            <a:ext cx="1143000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docker-compose.yml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├── globelens_backend   (depends_on: db, cache, search)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├── globelens_db        (pgvector/pgvector:pg16 + health check)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├── globelens_cache     (Redis Stack + password auth)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├── globelens_search    (Elasticsearch 8.13 single-node)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└── globelens_frontend  (depends_on: backend)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Named Volumes: postgres_data, redis_data, elasticsearch_data</a:t>
            </a:r>
          </a:p>
          <a:p>
            <a:pPr>
              <a:spcAft>
                <a:spcPts val="100"/>
              </a:spcAft>
              <a:defRPr sz="1000">
                <a:solidFill>
                  <a:srgbClr val="A0E8AF"/>
                </a:solidFill>
                <a:latin typeface="Consolas"/>
              </a:defRPr>
            </a:pPr>
            <a:r>
              <a:t>Network: globelens_network (bridge, isolated)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3 —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Asynchronous Hybrid Ingestion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468880" cy="2743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RSS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feedparser + httpx</a:t>
            </a:r>
            <a:br/>
            <a:r>
              <a:t>Lightweight URL</a:t>
            </a:r>
            <a:br/>
            <a:r>
              <a:t>harvesting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286000"/>
            <a:ext cx="2468880" cy="2743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237744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Playwright</a:t>
            </a:r>
            <a:br/>
            <a:r>
              <a:t>Hydration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Headless Chromium</a:t>
            </a:r>
            <a:br/>
            <a:r>
              <a:t>JS rendering bypass</a:t>
            </a:r>
            <a:br/>
            <a:r>
              <a:t>Full DOM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286000"/>
            <a:ext cx="2468880" cy="2743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3774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BeautifulSoup</a:t>
            </a:r>
            <a:br/>
            <a:r>
              <a:t>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HTML → &lt;p&gt; parsing</a:t>
            </a:r>
            <a:br/>
            <a:r>
              <a:t>30-char minimum</a:t>
            </a:r>
            <a:br/>
            <a:r>
              <a:t>Script/ad stripping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2286000"/>
            <a:ext cx="2468880" cy="2743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07040" y="23774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ArticleRepository</a:t>
            </a:r>
            <a:br/>
            <a:r>
              <a:t>URL idempotency</a:t>
            </a:r>
            <a:br/>
            <a:r>
              <a:t>Status: SCRAPED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TARGET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2377440" cy="7315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760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▸  BBC World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5669280"/>
            <a:ext cx="2377440" cy="7315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5760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▸  CNN International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669280"/>
            <a:ext cx="2377440" cy="7315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760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▸  Al Jazeera English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3 —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 Idempotence &amp; Article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19456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SCRAPED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377440"/>
            <a:ext cx="2194560" cy="731520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EMBEDDED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377440"/>
            <a:ext cx="219456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CLUSTERED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77440"/>
            <a:ext cx="219456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B5563"/>
                </a:solidFill>
                <a:latin typeface="Calibri"/>
              </a:defRPr>
            </a:pPr>
            <a:r>
              <a:t>──▸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B5563"/>
                </a:solidFill>
                <a:latin typeface="Calibri"/>
              </a:defRPr>
            </a:pPr>
            <a:r>
              <a:t>──▸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B5563"/>
                </a:solidFill>
                <a:latin typeface="Calibri"/>
              </a:defRPr>
            </a:pPr>
            <a:r>
              <a:t>──▸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ScraperService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RSS + Playwright</a:t>
            </a:r>
            <a:br/>
            <a:r>
              <a:t>URL fingerprint</a:t>
            </a:r>
            <a:br/>
            <a:r>
              <a:t>idempotency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7AFF"/>
                </a:solidFill>
                <a:latin typeface="Calibri"/>
              </a:defRPr>
            </a:pPr>
            <a:r>
              <a:t>EmbeddingService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text-embedding-3-small</a:t>
            </a:r>
            <a:br/>
            <a:r>
              <a:t>1536-dim vectors</a:t>
            </a:r>
            <a:br/>
            <a:r>
              <a:t>Redis MD5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ClusteringService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pgvector &lt;=&gt; cosine</a:t>
            </a:r>
            <a:br/>
            <a:r>
              <a:t>0.18 threshold</a:t>
            </a:r>
            <a:br/>
            <a:r>
              <a:t>72h time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LLMService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Grok LLM synthesis</a:t>
            </a:r>
            <a:br/>
            <a:r>
              <a:t>bias removal</a:t>
            </a:r>
            <a:br/>
            <a:r>
              <a:t>GPS extraction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6424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URL FINGERPRINT IDEMPOTENCY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Before inserting, ArticleRepository checks SELECT ... WHERE url = $1 — if found, returns None (skip)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Eliminates duplicate articles at the database level — no constraint violations, no retry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4 —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Semantic Mapping via Grok (x.AI)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48640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EMBEDDING GENERATION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2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1.  Concatenate:  title + "\n\n" + content</a:t>
            </a:r>
          </a:p>
          <a:p>
            <a:pPr algn="l">
              <a:spcAft>
                <a:spcPts val="32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        ↓</a:t>
            </a:r>
          </a:p>
          <a:p>
            <a:pPr algn="l">
              <a:spcAft>
                <a:spcPts val="32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2.  Hash:  SHA-256(text) → Redis cache key lookup</a:t>
            </a:r>
          </a:p>
          <a:p>
            <a:pPr algn="l">
              <a:spcAft>
                <a:spcPts val="32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        ↓  (cache miss)</a:t>
            </a:r>
          </a:p>
          <a:p>
            <a:pPr algn="l">
              <a:spcAft>
                <a:spcPts val="32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3.  API Call:  AsyncOpenAI → api.x.ai/v1 (Grok)</a:t>
            </a:r>
          </a:p>
          <a:p>
            <a:pPr algn="l">
              <a:spcAft>
                <a:spcPts val="32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        ↓</a:t>
            </a:r>
          </a:p>
          <a:p>
            <a:pPr algn="l">
              <a:spcAft>
                <a:spcPts val="32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4.  Response:  List[float] × 1536 dimensions</a:t>
            </a:r>
          </a:p>
          <a:p>
            <a:pPr algn="l">
              <a:spcAft>
                <a:spcPts val="32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        ↓</a:t>
            </a:r>
          </a:p>
          <a:p>
            <a:pPr algn="l">
              <a:spcAft>
                <a:spcPts val="32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5.  Persist:  INSERT INTO embeddings (vector, model)</a:t>
            </a:r>
          </a:p>
          <a:p>
            <a:pPr algn="l">
              <a:spcAft>
                <a:spcPts val="32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t>        ↓</a:t>
            </a:r>
          </a:p>
          <a:p>
            <a:pPr algn="l">
              <a:spcAft>
                <a:spcPts val="32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6.  Transition:  Article.status → EMBEDDED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303520" cy="1828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VECTOR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Model:  text-embedding-3-small  (via Grok-compatible SDK)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Dimensions:  1,536 floating-point values per article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Storage:  pgvector Vector(1536) column type in PostgreSQL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Index:  IVFFlat (vector_cosine_ops, lists=100)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REDIS COST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SHA-256 content hash → Redis key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▸  Cache hit = instant return (zero API cost)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Cache miss = API call + store result (TTL: 24h)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Identical articles across sources → single API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4 —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Spatial Clustering via pgvector Cosine Distance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731520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-- Core pgvector similarity query (ClusteringService)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SELECT articles.event_id,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      embeddings.vector &lt;=&gt; $1 AS distance   -- Cosine distance operator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FROM   articles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JOIN   embeddings ON articles.id = embeddings.article_id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JOIN   events     ON articles.event_id = events.id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WHERE  events.created_at &gt;= NOW() - INTERVAL '72 hours'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 AND  (embeddings.vector &lt;=&gt; $1) &lt;= 0.18     -- Distance threshold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ORDER BY distance ASC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LIMIT 1;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365760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DECISION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974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 each EMBEDDED article: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IF  distance ≤ 0.18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B95A5"/>
                </a:solidFill>
                <a:latin typeface="Calibri"/>
              </a:defRPr>
            </a:pPr>
            <a:r>
              <a:t>→ Assign to existing Event</a:t>
            </a:r>
            <a:br/>
            <a:r>
              <a:t>→ Status → CLUSTERED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IF  distance &gt; 0.18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B95A5"/>
                </a:solidFill>
                <a:latin typeface="Calibri"/>
              </a:defRPr>
            </a:pPr>
            <a:r>
              <a:t>→ Create NEW Event</a:t>
            </a:r>
            <a:br/>
            <a:r>
              <a:t>→ Article.title as placeholder</a:t>
            </a:r>
            <a:br/>
            <a:r>
              <a:t>→ Status → CLUSTERED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7315200" cy="16459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MATHEMATICAL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Cosine Distance  =  1 − Cosine Similarity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Threshold: 0.18  =  82% semantic similarity minimum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Time Window: 72 hours  — prevents stale event contamination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IVFFlat Index: O(√n) approximate search — not O(n) brute 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5 — COGNITIVE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Multi-Source AI Consolidation via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2402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CLUSTERED</a:t>
            </a:r>
            <a:br/>
            <a:r>
              <a:t>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Extract all linked</a:t>
            </a:r>
            <a:br/>
            <a:r>
              <a:t>articles from cluster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47472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22402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19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System: remove bias</a:t>
            </a:r>
            <a:br/>
            <a:r>
              <a:t>User: article texts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103120"/>
            <a:ext cx="347472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2402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  <a:br/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3-paragraph summary</a:t>
            </a:r>
            <a:br/>
            <a:r>
              <a:t>Topic + Country + GPS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106424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System Prompt (Rigid):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"You are a neutral journalist AI. Given multiple articles 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covering the same event from different sources, produce: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1. A 3-paragraph objective summary (no editorial bias)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2. The primary topic classification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3. The country of origin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4. GPS coordinates (latitude, longitude)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 Return ONLY valid JSON."</a:t>
            </a: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A0E8AF"/>
                </a:solidFill>
                <a:latin typeface="Consolas"/>
              </a:defRPr>
            </a:pPr>
            <a:r>
              <a:t>Article.status → PROCESSED (final state)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5 —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Geospatial Indexing &amp; Full-Text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0352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GEOSPATIAL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Output (structured JSON):</a:t>
            </a:r>
          </a:p>
          <a:p>
            <a:pPr algn="l">
              <a:spcAft>
                <a:spcPts val="48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0">
                <a:solidFill>
                  <a:srgbClr val="A0E8AF"/>
                </a:solidFill>
                <a:latin typeface="Calibri"/>
              </a:defRPr>
            </a:pPr>
            <a:r>
              <a:t>  { "latitude": 48.8566,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A0E8AF"/>
                </a:solidFill>
                <a:latin typeface="Calibri"/>
              </a:defRPr>
            </a:pPr>
            <a:r>
              <a:t>    "longitude": 2.3522,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A0E8AF"/>
                </a:solidFill>
                <a:latin typeface="Calibri"/>
              </a:defRPr>
            </a:pPr>
            <a:r>
              <a:t>    "country": "France",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A0E8AF"/>
                </a:solidFill>
                <a:latin typeface="Calibri"/>
              </a:defRPr>
            </a:pPr>
            <a:r>
              <a:t>    "topic": "Politics" }</a:t>
            </a:r>
          </a:p>
          <a:p>
            <a:pPr algn="l">
              <a:spcAft>
                <a:spcPts val="48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→ Stored in Event.latitude &amp; Event.longitude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→ Queried by find_map_events() for Leaflet rendering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→ Pins drop on interactive world map in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30352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ELASTICSEARCH INDEXING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Trigger: Event reaches PROCESSED state</a:t>
            </a:r>
          </a:p>
          <a:p>
            <a:pPr algn="l">
              <a:spcAft>
                <a:spcPts val="48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Index: globelens_events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Fields: title, summary, topic, country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Analyzers: standard + edge_ngram</a:t>
            </a:r>
          </a:p>
          <a:p>
            <a:pPr algn="l">
              <a:spcAft>
                <a:spcPts val="48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8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Search Capabilities: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Full-text queries with relevance scoring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Autocomplete suggestions via prefix matching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Sub-millisecond response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6 —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Final Product — Interactive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51760" cy="23774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🗺️  Map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Leaflet.js interactive</a:t>
            </a:r>
            <a:br/>
            <a:r>
              <a:t>world map with</a:t>
            </a:r>
            <a:br/>
            <a:r>
              <a:t>event marker clusters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03120"/>
            <a:ext cx="2651760" cy="23774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103120"/>
            <a:ext cx="2651760" cy="508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📰  News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260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Chronological event</a:t>
            </a:r>
            <a:br/>
            <a:r>
              <a:t>stream with AI</a:t>
            </a:r>
            <a:br/>
            <a:r>
              <a:t>summaries &amp;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651760" cy="23774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Smart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Elasticsearch-powered</a:t>
            </a:r>
            <a:br/>
            <a:r>
              <a:t>autocomplete with</a:t>
            </a:r>
            <a:br/>
            <a:r>
              <a:t>relevance ranking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03120"/>
            <a:ext cx="2651760" cy="23774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10312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Event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260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Multi-source article</a:t>
            </a:r>
            <a:br/>
            <a:r>
              <a:t>list, bias indicators,</a:t>
            </a:r>
            <a:br/>
            <a:r>
              <a:t>reliability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46320"/>
            <a:ext cx="11430000" cy="16459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FRONTEND 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Next.js 14 with React 18  —  Server-side rendering for SEO &amp; performance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Leaflet.js  —  Open-source interactive mapping with marker clustering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Zustand  —  Lightweight global state management (auth, preferences)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React Query  —  Server state caching, automatic background refetch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56032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AXIS 6 —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Enterprise Security &amp; RBAC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0352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AUTHENTICATION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Password Encryption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Native bcrypt hashing (not passlib — P3.12 fix)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Salt auto-generated per password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Stateless JWT Sessions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HS256 signing with configurable SECRET_KEY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Claims: sub (UUID), email, role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30-minute expiration window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Dependency Injection Guard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C8D4"/>
                </a:solidFill>
                <a:latin typeface="Calibri"/>
              </a:defRPr>
            </a:pPr>
            <a:r>
              <a:t>▸  get_current_user() decodes JWT on every request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B95A5"/>
                </a:solidFill>
                <a:latin typeface="Calibri"/>
              </a:defRPr>
            </a:pPr>
            <a:r>
              <a:t>▸  Checks is_blocked flag in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303520" cy="43891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RBAC ROUTE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97480"/>
            <a:ext cx="493776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# Admin-only pipeline trigger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@router.post("/admin/embed/process")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async def process_embeddings(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background_tasks: BackgroundTasks,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user: User = Depends(get_current_user)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):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if user.role != UserRole.ADMIN: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raise HTTPException(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    status_code=403,     # ← FORBIDDEN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    detail="Admins only"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# Non-blocking background execution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background_tasks.add_task(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    embedding_service.process_scraped_batch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100"/>
              </a:spcAft>
              <a:defRPr sz="900">
                <a:solidFill>
                  <a:srgbClr val="A0E8AF"/>
                </a:solidFill>
                <a:latin typeface="Consolas"/>
              </a:defRPr>
            </a:pPr>
            <a:r>
              <a:t>    return {"status": "initiated"}  # ← 202 ACCEPTED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